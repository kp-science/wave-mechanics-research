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สไลด์เปิด — ชี้ภาพดาวยักษ์แดงขวามือ: "ดาวบีเทลจุสที่เห็นคืนนี้ คือภาพเมื่อ 500 ปีก่อน" เป็น hook เข้าคำถามข้อ 0 ในสไลด์ที่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ทบทวนความรู้ก่อนเรียนสั้น ๆ ก่อน โดยเฉพาะสัญกรณ์วิทยาศาสตร์ — จะใช้หนักในชุดคำนวณ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เฉลยคือข้อ 2 — แต่อย่าเฉลยตอนนี้ ให้ทุกคน commit คำตอบก่อน (predict-observe-explain) แล้วกลับมาปิดที่สไลด์สรุป
จุดประสงค์ของข้อนี้: ดักจับ misconception ว่า "แสงถึงทันที"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ให้ทุกคนทำจริงพร้อมกัน แล้วทำข้อ 1 ในแบบฝึกหัด (ตารางใกล้/ไกล)
ประโยคท้ายสไลด์เป็นสะพานไปสไลด์ถัดไป: สองตาของนักดาราศาสตร์ = ตำแหน่งโลกห่างกัน 6 เดือน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เชื่อมกับผลการทดลองข้อ 1: นิ้วใกล้เลื่อนมาก นิ้วไกลเลื่อนน้อย
ถามเช็คความเข้าใจ: "ดาวที่มีมุมพาแรลแลกซ์มาก คือดาวใกล้หรือไกล?" (ใกล้)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ย้ำนิยาม: p คือ "ครึ่งหนึ่ง" ของมุมเลื่อนทั้งหมด (จุดที่นักเรียนพลาดบ่อย)
ชี้ว่ารูปขยายมุมเกินจริงมาก — ของจริงเล็กกว่าองศาเป็นพันเท่า เป็นสะพานไปหน่วยฟิลิปดา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เกร็ด: ทำไมนักดาราศาสตร์ใช้ pc ไม่ใช่ปีแสง — เพราะ pc นิยามจากการวัดจริง สูตรจะสั้นที่สุด (สไลด์ถัดไป)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ย้ำว่าสูตรสั้นเพราะ "เลือกหน่วยฉลาด" (นิยาม pc ผูกกับ 1″)
โยงเลข: 1/0.5 = 2, 1/0.1 = 10 — เช็คว่านักเรียนหารเลขทศนิยมคล่อง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เฉลย: ข้อ 3 → d = 1/0.02 = 50 pc · ข้อ 4 → p = 1/d = 1/4 = 0.25″
จุดพลาดบ่อย: ข้อ 4 ลืมกลับสูตรเป็น p = 1/d · ตารางข้อ 5: A→1.25 pc, B→4 pc, C→p=0.1″, D→20 pc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เชื่อมข้อ 15 ในแบบฝึกหัด: เรียงสั้น→ยาว = AU &lt; ปีแสง &lt; พาร์เซก (ข้อ 4)
ถามต่อ: ทำไมไม่ใช้กิโลเมตร? (เลขใหญ่เกิน เขียน-เทียบลำบาก)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ให้นักเรียนลองคิด: แสงอาทิตย์ที่ส่องหน้าเราตอนนี้ ออกเดินทางมาแล้ว 8.3 นาที (= ข้อ 11 ในแบบฝึกหัด)
แถบนี้คือสะพานเข้าแนวคิด "จดหมายจากอดีต" สไลด์ถัดไป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เชื่อมข้อ 12 (ดาวเหนือ) และข้อ 13 (บีเทลจุสระเบิด) ในแบบฝึกหัด
เสริม: ชื่อตอน EP03 "เสียงร้องจากอดีต" มาจากแนวคิดนี้เอง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เช็คเร็ว: ซิริอุสสว่างกว่า (เลขน้อยกว่า) — ดัก misconception "เลขมาก = สว่างมาก" ก่อนเข้า Spot the Error
ย้ำคำว่า "ปรากฏ" = สว่างที่ตาเห็นจากโลก ยังไม่ใช่กำลังส่องสว่างจริง (โยงข้อ 22)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เฉลยลองทำ: ข้อ 16 → m=1 สว่างกว่า 100 เท่า · ข้อ 18 → Δm=10 → 10⁴ เท่า · ข้อ 20 → ต่าง 1 อันดับ
ย้ำ: 2.512 มาจาก ⁵√100 ไม่ต้องท่อง แค่จำ "5 อันดับ = 100 เท่า" แล้วประกอบเอา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เฉลย: ผิดเพราะ magnitude คือ "อันดับ" เลขน้อย = สว่างกว่า → ดาว ก สว่างกว่า
Δm = 3 → 2.512³ ≈ 15.8 เท่า (ประมาณ 16 เท่า)
นี่คือ misconception หลักของหัวข้อนี้ — ใช้เวลากับสไลด์นี้ให้คุ้ม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โยงโจทย์ท้าทาย: ข้อ 24 (0.01″ → 100 pc) และข้อ 25 (Gaia → 50,000 pc ≈ ใหญ่กว่าจานทางช้างเผือก ~30,000 pc → ครอบคลุมเกือบทั้งกาแล็กซี)
ข้อ 27 แนวคิด error: p = 0.002″ ± 0.001″ → d อยู่ระหว่าง 1/0.003 ≈ 333 pc ถึง 1/0.001 = 1,000 pc — ช่วงกว้างมาก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ปิดวงจร predict-observe-explain ของข้อ 0 (เฉลย: ข้อ 2)
แผนที่หลักการนี้ = เฉลยของกรอบ "เติมคำ" หน้า 10 ในแบบฝึกหัด
teaser EP04: บีเทลจุสที่ค้างคาใจ จะได้คำตอบว่าดาวยักษ์แดงตายอย่างไร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1168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10896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0" y="457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5669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4088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292840" y="5623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55680" y="731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0" y="548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43000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6035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40480" y="6126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165592" y="1810512"/>
            <a:ext cx="2962656" cy="2962656"/>
          </a:xfrm>
          <a:prstGeom prst="ellipse">
            <a:avLst/>
          </a:prstGeom>
          <a:solidFill>
            <a:srgbClr val="3A1430"/>
          </a:solidFill>
          <a:ln/>
        </p:spPr>
      </p:sp>
      <p:sp>
        <p:nvSpPr>
          <p:cNvPr id="16" name="Shape 14"/>
          <p:cNvSpPr/>
          <p:nvPr/>
        </p:nvSpPr>
        <p:spPr>
          <a:xfrm>
            <a:off x="8476488" y="2121408"/>
            <a:ext cx="2340864" cy="2340864"/>
          </a:xfrm>
          <a:prstGeom prst="ellipse">
            <a:avLst/>
          </a:prstGeom>
          <a:solidFill>
            <a:srgbClr val="7E2A33"/>
          </a:solidFill>
          <a:ln/>
        </p:spPr>
      </p:sp>
      <p:sp>
        <p:nvSpPr>
          <p:cNvPr id="17" name="Shape 15"/>
          <p:cNvSpPr/>
          <p:nvPr/>
        </p:nvSpPr>
        <p:spPr>
          <a:xfrm>
            <a:off x="8750808" y="2395728"/>
            <a:ext cx="1792224" cy="1792224"/>
          </a:xfrm>
          <a:prstGeom prst="ellipse">
            <a:avLst/>
          </a:prstGeom>
          <a:solidFill>
            <a:srgbClr val="C24A3A"/>
          </a:solidFill>
          <a:ln/>
        </p:spPr>
      </p:sp>
      <p:sp>
        <p:nvSpPr>
          <p:cNvPr id="18" name="Shape 16"/>
          <p:cNvSpPr/>
          <p:nvPr/>
        </p:nvSpPr>
        <p:spPr>
          <a:xfrm>
            <a:off x="9116568" y="2761488"/>
            <a:ext cx="1060704" cy="1060704"/>
          </a:xfrm>
          <a:prstGeom prst="ellipse">
            <a:avLst/>
          </a:prstGeom>
          <a:solidFill>
            <a:srgbClr val="F2A45C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5029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บีเทลจุส · ~500 ปีแสง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01000" y="53218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ภาพที่เห็นคืนนี้ = แสงที่ออกเดินทางเมื่อราว 500 ปีก่อน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1481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SEASON 1 · EP03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182880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เสียงร้องจากอดีต</a:t>
            </a:r>
            <a:endParaRPr lang="en-US" sz="5300" dirty="0"/>
          </a:p>
        </p:txBody>
      </p:sp>
      <p:sp>
        <p:nvSpPr>
          <p:cNvPr id="23" name="Text 21"/>
          <p:cNvSpPr/>
          <p:nvPr/>
        </p:nvSpPr>
        <p:spPr>
          <a:xfrm>
            <a:off x="822960" y="283464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พาแรลแลกซ์และระยะดาว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822960" y="3456432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ไม้บรรทัดวัดเอกภพ — และจดหมายที่แสงส่งมาจากอดีต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22960" y="4224528"/>
            <a:ext cx="6858000" cy="1078992"/>
          </a:xfrm>
          <a:prstGeom prst="roundRect">
            <a:avLst>
              <a:gd name="adj" fmla="val 7627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334256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ไฟล์ช่วยสอนประกอบแบบฝึกหัดที่ 3 · ใช้คู่กับแผนการจัดการเรียนรู้ที่ 3 (คาบ 5–6)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ว30105 วิทยาศาสตร์โลกและอวกาศ · ชั้นมัธยมศึกษาปีที่ 5 · ผลการเรียนรู้ ว 7.1 ม.4-6/2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" y="5989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Astronomy · AJ Komane Papato · โรงเรียนสตรีวิทยา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จุดประสงค์การเรียนรู้ — จบคาบนี้ นักเรียนทำอะไรได้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66928" y="1481328"/>
            <a:ext cx="7269480" cy="1005840"/>
          </a:xfrm>
          <a:prstGeom prst="roundRect">
            <a:avLst>
              <a:gd name="adj" fmla="val 8182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1737360"/>
            <a:ext cx="493776" cy="4937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73736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36192" y="1591056"/>
            <a:ext cx="6126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อธิบายหลักการพาแรลแลกซ์ และคำนวณระยะดาวฤกษ์จากสูตร d = 1/p ได้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66928" y="2651760"/>
            <a:ext cx="7269480" cy="1005840"/>
          </a:xfrm>
          <a:prstGeom prst="roundRect">
            <a:avLst>
              <a:gd name="adj" fmla="val 8182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2907792"/>
            <a:ext cx="493776" cy="4937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90779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36192" y="2761488"/>
            <a:ext cx="6126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แปลงหน่วย AU ⟷ ปีแสง ⟷ พาร์เซก และอธิบายว่าแสงจากดาวคือ "ภาพจากอดีต" ได้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66928" y="3822192"/>
            <a:ext cx="7269480" cy="1005840"/>
          </a:xfrm>
          <a:prstGeom prst="roundRect">
            <a:avLst>
              <a:gd name="adj" fmla="val 8182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078224"/>
            <a:ext cx="493776" cy="4937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07822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36192" y="3931920"/>
            <a:ext cx="6126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อธิบายระบบอันดับความสว่าง (magnitude) และเปรียบเทียบความสว่างของดาวสองดวงได้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8092440" y="1481328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เส้นทางของคาบนี้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476488" y="2185416"/>
            <a:ext cx="91440" cy="91440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28" name="Text 26"/>
          <p:cNvSpPr/>
          <p:nvPr/>
        </p:nvSpPr>
        <p:spPr>
          <a:xfrm>
            <a:off x="8705088" y="20848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พาแรลแลกซ์คืออะไร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522208" y="2313432"/>
            <a:ext cx="0" cy="320040"/>
          </a:xfrm>
          <a:prstGeom prst="line">
            <a:avLst/>
          </a:prstGeom>
          <a:noFill/>
          <a:ln w="12700">
            <a:solidFill>
              <a:srgbClr val="2C3D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76488" y="2651760"/>
            <a:ext cx="91440" cy="91440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31" name="Text 29"/>
          <p:cNvSpPr/>
          <p:nvPr/>
        </p:nvSpPr>
        <p:spPr>
          <a:xfrm>
            <a:off x="8705088" y="255117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สูตรเดียวจบ d = 1/p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522208" y="2779776"/>
            <a:ext cx="0" cy="320040"/>
          </a:xfrm>
          <a:prstGeom prst="line">
            <a:avLst/>
          </a:prstGeom>
          <a:noFill/>
          <a:ln w="12700">
            <a:solidFill>
              <a:srgbClr val="2C3D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76488" y="3118104"/>
            <a:ext cx="91440" cy="91440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34" name="Text 32"/>
          <p:cNvSpPr/>
          <p:nvPr/>
        </p:nvSpPr>
        <p:spPr>
          <a:xfrm>
            <a:off x="8705088" y="30175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หน่วยระยะทาง 3 ชั้น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522208" y="3246120"/>
            <a:ext cx="0" cy="320040"/>
          </a:xfrm>
          <a:prstGeom prst="line">
            <a:avLst/>
          </a:prstGeom>
          <a:noFill/>
          <a:ln w="12700">
            <a:solidFill>
              <a:srgbClr val="2C3D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76488" y="3584448"/>
            <a:ext cx="91440" cy="91440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37" name="Text 35"/>
          <p:cNvSpPr/>
          <p:nvPr/>
        </p:nvSpPr>
        <p:spPr>
          <a:xfrm>
            <a:off x="8705088" y="348386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แสง = จดหมายจากอดีต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522208" y="3712464"/>
            <a:ext cx="0" cy="320040"/>
          </a:xfrm>
          <a:prstGeom prst="line">
            <a:avLst/>
          </a:prstGeom>
          <a:noFill/>
          <a:ln w="12700">
            <a:solidFill>
              <a:srgbClr val="2C3D6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76488" y="4050792"/>
            <a:ext cx="91440" cy="91440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40" name="Text 38"/>
          <p:cNvSpPr/>
          <p:nvPr/>
        </p:nvSpPr>
        <p:spPr>
          <a:xfrm>
            <a:off x="8705088" y="39502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อันดับความสว่าง m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522208" y="4178808"/>
            <a:ext cx="0" cy="320040"/>
          </a:xfrm>
          <a:prstGeom prst="line">
            <a:avLst/>
          </a:prstGeom>
          <a:noFill/>
          <a:ln w="12700">
            <a:solidFill>
              <a:srgbClr val="2C3D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76488" y="4517136"/>
            <a:ext cx="91440" cy="91440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43" name="Text 41"/>
          <p:cNvSpPr/>
          <p:nvPr/>
        </p:nvSpPr>
        <p:spPr>
          <a:xfrm>
            <a:off x="8705088" y="44165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ขีดจำกัด + ดาวเทียม Gaia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66928" y="5138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ความรู้ก่อนเรียนที่ต้องมี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566928" y="5486400"/>
            <a:ext cx="1751076" cy="384048"/>
          </a:xfrm>
          <a:prstGeom prst="roundRect">
            <a:avLst>
              <a:gd name="adj" fmla="val 50000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5500116"/>
            <a:ext cx="175107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หน่วยมุม (องศา)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2482596" y="5486400"/>
            <a:ext cx="2039112" cy="384048"/>
          </a:xfrm>
          <a:prstGeom prst="roundRect">
            <a:avLst>
              <a:gd name="adj" fmla="val 50000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82596" y="5500116"/>
            <a:ext cx="2039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สัญกรณ์วิทยาศาสตร์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4686300" y="5486400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86300" y="5500116"/>
            <a:ext cx="9829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v = s/t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833872" y="5486400"/>
            <a:ext cx="1751076" cy="384048"/>
          </a:xfrm>
          <a:prstGeom prst="roundRect">
            <a:avLst>
              <a:gd name="adj" fmla="val 50000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33872" y="5500116"/>
            <a:ext cx="175107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 = 3 × 10⁸ m/s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BIG QUESTION · ข้อ 0 ในแบบฝึกหัด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คืนนี้คุณแหงนมองดาวบีเทลจุส… ตาคุณ "เห็น" อะไร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66928" y="1463040"/>
            <a:ext cx="4160520" cy="3749040"/>
          </a:xfrm>
          <a:prstGeom prst="roundRect">
            <a:avLst>
              <a:gd name="adj" fmla="val 2195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38528" y="1892808"/>
            <a:ext cx="1426464" cy="1426464"/>
          </a:xfrm>
          <a:prstGeom prst="ellipse">
            <a:avLst/>
          </a:prstGeom>
          <a:solidFill>
            <a:srgbClr val="7E2A33"/>
          </a:solidFill>
          <a:ln/>
        </p:spPr>
      </p:sp>
      <p:sp>
        <p:nvSpPr>
          <p:cNvPr id="15" name="Shape 13"/>
          <p:cNvSpPr/>
          <p:nvPr/>
        </p:nvSpPr>
        <p:spPr>
          <a:xfrm>
            <a:off x="2148840" y="2103120"/>
            <a:ext cx="1005840" cy="1005840"/>
          </a:xfrm>
          <a:prstGeom prst="ellipse">
            <a:avLst/>
          </a:prstGeom>
          <a:solidFill>
            <a:srgbClr val="C24A3A"/>
          </a:solidFill>
          <a:ln/>
        </p:spPr>
      </p:sp>
      <p:sp>
        <p:nvSpPr>
          <p:cNvPr id="16" name="Shape 14"/>
          <p:cNvSpPr/>
          <p:nvPr/>
        </p:nvSpPr>
        <p:spPr>
          <a:xfrm>
            <a:off x="2377440" y="2331720"/>
            <a:ext cx="548640" cy="548640"/>
          </a:xfrm>
          <a:prstGeom prst="ellipse">
            <a:avLst/>
          </a:prstGeom>
          <a:solidFill>
            <a:srgbClr val="F2A45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11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บีเทลจุส (Betelgeuse)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ดาวยักษ์แดงในกลุ่มดาวนายพราน</a:t>
            </a:r>
            <a:endParaRPr lang="en-US" sz="14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ห่างจากโลกประมาณ 500 ปีแสง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83480" y="1463040"/>
            <a:ext cx="3200400" cy="1773936"/>
          </a:xfrm>
          <a:prstGeom prst="roundRect">
            <a:avLst>
              <a:gd name="adj" fmla="val 4639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75504" y="1655064"/>
            <a:ext cx="384048" cy="384048"/>
          </a:xfrm>
          <a:prstGeom prst="ellipse">
            <a:avLst/>
          </a:prstGeom>
          <a:solidFill>
            <a:srgbClr val="1C2B52"/>
          </a:solidFill>
          <a:ln w="19050">
            <a:solidFill>
              <a:srgbClr val="6FA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7550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96712" y="1627632"/>
            <a:ext cx="23774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ภาพดาว ณ ปัจจุบันจริง เพราะแสงเร็วมากจนถือว่าถึงทันที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348472" y="1463040"/>
            <a:ext cx="3200400" cy="1773936"/>
          </a:xfrm>
          <a:prstGeom prst="roundRect">
            <a:avLst>
              <a:gd name="adj" fmla="val 4639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0496" y="1655064"/>
            <a:ext cx="384048" cy="384048"/>
          </a:xfrm>
          <a:prstGeom prst="ellipse">
            <a:avLst/>
          </a:prstGeom>
          <a:solidFill>
            <a:srgbClr val="1C2B52"/>
          </a:solidFill>
          <a:ln w="19050">
            <a:solidFill>
              <a:srgbClr val="6FA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0496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061704" y="1627632"/>
            <a:ext cx="23774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ภาพดาวเมื่อราว 500 ปีก่อน — ดาวอาจเปลี่ยนไปแล้ว หรือไม่มีอยู่แล้วก็ได้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983480" y="3401568"/>
            <a:ext cx="3200400" cy="1773936"/>
          </a:xfrm>
          <a:prstGeom prst="roundRect">
            <a:avLst>
              <a:gd name="adj" fmla="val 4639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75504" y="3593592"/>
            <a:ext cx="384048" cy="384048"/>
          </a:xfrm>
          <a:prstGeom prst="ellipse">
            <a:avLst/>
          </a:prstGeom>
          <a:solidFill>
            <a:srgbClr val="1C2B52"/>
          </a:solidFill>
          <a:ln w="19050">
            <a:solidFill>
              <a:srgbClr val="6FA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75504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96712" y="3566160"/>
            <a:ext cx="23774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ภาพดาวในอนาคต เพราะดาวเคลื่อนที่หนีเราไป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348472" y="3401568"/>
            <a:ext cx="3200400" cy="1773936"/>
          </a:xfrm>
          <a:prstGeom prst="roundRect">
            <a:avLst>
              <a:gd name="adj" fmla="val 4639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0496" y="3593592"/>
            <a:ext cx="384048" cy="384048"/>
          </a:xfrm>
          <a:prstGeom prst="ellipse">
            <a:avLst/>
          </a:prstGeom>
          <a:solidFill>
            <a:srgbClr val="1C2B52"/>
          </a:solidFill>
          <a:ln w="19050">
            <a:solidFill>
              <a:srgbClr val="6FA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0496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61704" y="3566160"/>
            <a:ext cx="23774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ภาพปัจจุบัน เพราะสมองปรับแก้เวลาเดินทางของแสงให้แล้ว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66928" y="539496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23304F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546811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✎  ให้นักเรียนเขียนคำตอบ + เหตุผล ลงข้อ 0 ในแบบฝึกหัด "ก่อนเรียน" — ยังไม่เฉลยตอนนี้ เราจะกลับมาตัดสินกันท้ายคาบ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CONCEPT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พาแรลแลกซ์ — ทดลองได้เดี๋ยวนี้ ด้วยนิ้วโป้งของคุณ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66928" y="14630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6276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กิจกรรม 1 นาที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" y="201168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1. ยกนิ้วโป้งขึ้น เหยียดสุดแขน</a:t>
            </a:r>
            <a:endParaRPr lang="en-US" sz="15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2. หลับตาซ้าย–ขวา สลับกันเร็ว ๆ</a:t>
            </a:r>
            <a:endParaRPr lang="en-US" sz="15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3. สังเกตนิ้วเทียบกับฉากหลัง (กระดาน/ผนัง)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77240" y="3246120"/>
            <a:ext cx="4937760" cy="1234440"/>
          </a:xfrm>
          <a:prstGeom prst="roundRect">
            <a:avLst>
              <a:gd name="adj" fmla="val 6667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346704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นิ้ว "กระโดด" ไปมา ทั้งที่ไม่ได้ขยับเลย!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การเปลี่ยนตำแหน่งปรากฏของวัตถุเมื่อมองจากตำแหน่งต่างกัน เรียกว่า พาแรลแลกซ์ (parallax)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172200" y="1463040"/>
            <a:ext cx="5468112" cy="4434840"/>
          </a:xfrm>
          <a:prstGeom prst="roundRect">
            <a:avLst>
              <a:gd name="adj" fmla="val 1856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0" y="15910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ฉากหลังไกล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109960" y="1874520"/>
            <a:ext cx="0" cy="3611880"/>
          </a:xfrm>
          <a:prstGeom prst="line">
            <a:avLst/>
          </a:prstGeom>
          <a:noFill/>
          <a:ln w="25400">
            <a:solidFill>
              <a:srgbClr val="EAF0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2697480"/>
            <a:ext cx="4160520" cy="2313432"/>
          </a:xfrm>
          <a:prstGeom prst="line">
            <a:avLst/>
          </a:prstGeom>
          <a:noFill/>
          <a:ln w="22225">
            <a:solidFill>
              <a:srgbClr val="6FA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812280" y="2670048"/>
            <a:ext cx="4160520" cy="2313432"/>
          </a:xfrm>
          <a:prstGeom prst="line">
            <a:avLst/>
          </a:prstGeom>
          <a:noFill/>
          <a:ln w="22225">
            <a:solidFill>
              <a:srgbClr val="FFC857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547104" y="2569464"/>
            <a:ext cx="256032" cy="256032"/>
          </a:xfrm>
          <a:prstGeom prst="ellipse">
            <a:avLst/>
          </a:prstGeom>
          <a:solidFill>
            <a:srgbClr val="141F3F"/>
          </a:solidFill>
          <a:ln w="22225">
            <a:solidFill>
              <a:srgbClr val="EAF0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2651760"/>
            <a:ext cx="91440" cy="91440"/>
          </a:xfrm>
          <a:prstGeom prst="ellipse">
            <a:avLst/>
          </a:prstGeom>
          <a:solidFill>
            <a:srgbClr val="EAF0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547104" y="4855464"/>
            <a:ext cx="256032" cy="256032"/>
          </a:xfrm>
          <a:prstGeom prst="ellipse">
            <a:avLst/>
          </a:prstGeom>
          <a:solidFill>
            <a:srgbClr val="141F3F"/>
          </a:solidFill>
          <a:ln w="22225">
            <a:solidFill>
              <a:srgbClr val="EAF0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9400" y="4937760"/>
            <a:ext cx="91440" cy="91440"/>
          </a:xfrm>
          <a:prstGeom prst="ellipse">
            <a:avLst/>
          </a:prstGeom>
          <a:solidFill>
            <a:srgbClr val="EAF0FF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22128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ตาซ้าย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36208" y="51755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ตาขวา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769096" y="3739896"/>
            <a:ext cx="201168" cy="201168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33649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8A7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นิ้วโป้ง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744200" y="4782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74420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64040" y="51389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ตำแหน่งปรากฏ ก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464040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ตำแหน่งปรากฏ ข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0" y="55321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ตาซ้ายเห็นนิ้วทับ ก  ·  ตาขวาเห็นนิ้วทับ ข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172200" y="5989320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รูปที่ 1  มองนิ้วเดียวกันจากสองตา → ตำแหน่งปรากฏบนฉากหลังเลื่อนจาก ก ไป ข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" y="4956048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23304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50292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ตาสองข้างห่างกันแค่ ~6 cm จึงวัดได้แต่ระยะใกล้ — ถ้าจะวัด "ดาว" ต้องหาสองตาที่ห่างกันกว่านี้มหาศาล…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CONCEPT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กฎสำคัญ — ยิ่งใกล้ ยิ่งเลื่อนมาก · ยิ่งไกล ยิ่งเลื่อนน้อย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66928" y="1463040"/>
            <a:ext cx="5349240" cy="3520440"/>
          </a:xfrm>
          <a:prstGeom prst="roundRect">
            <a:avLst>
              <a:gd name="adj" fmla="val 2338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591056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วัตถุอยู่ใกล้ (ครึ่งแขน)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69264" y="2414016"/>
            <a:ext cx="201168" cy="201168"/>
          </a:xfrm>
          <a:prstGeom prst="ellipse">
            <a:avLst/>
          </a:prstGeom>
          <a:solidFill>
            <a:srgbClr val="141F3F"/>
          </a:solidFill>
          <a:ln w="19050">
            <a:solidFill>
              <a:srgbClr val="EAF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272" y="2478024"/>
            <a:ext cx="73152" cy="73152"/>
          </a:xfrm>
          <a:prstGeom prst="ellipse">
            <a:avLst/>
          </a:prstGeom>
          <a:solidFill>
            <a:srgbClr val="EAF0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9264" y="3968496"/>
            <a:ext cx="201168" cy="201168"/>
          </a:xfrm>
          <a:prstGeom prst="ellipse">
            <a:avLst/>
          </a:prstGeom>
          <a:solidFill>
            <a:srgbClr val="141F3F"/>
          </a:solidFill>
          <a:ln w="19050">
            <a:solidFill>
              <a:srgbClr val="EAF0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" y="4032504"/>
            <a:ext cx="73152" cy="73152"/>
          </a:xfrm>
          <a:prstGeom prst="ellipse">
            <a:avLst/>
          </a:prstGeom>
          <a:solidFill>
            <a:srgbClr val="EAF0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697480" y="3200400"/>
            <a:ext cx="182880" cy="182880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20" name="Shape 18"/>
          <p:cNvSpPr/>
          <p:nvPr/>
        </p:nvSpPr>
        <p:spPr>
          <a:xfrm>
            <a:off x="5458968" y="1874520"/>
            <a:ext cx="0" cy="2834640"/>
          </a:xfrm>
          <a:prstGeom prst="line">
            <a:avLst/>
          </a:prstGeom>
          <a:noFill/>
          <a:ln w="25400">
            <a:solidFill>
              <a:srgbClr val="EAF0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70432" y="2514600"/>
            <a:ext cx="4288536" cy="1984443"/>
          </a:xfrm>
          <a:prstGeom prst="line">
            <a:avLst/>
          </a:prstGeom>
          <a:noFill/>
          <a:ln w="19050">
            <a:solidFill>
              <a:srgbClr val="FF8A7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170432" y="2084637"/>
            <a:ext cx="4288536" cy="1984443"/>
          </a:xfrm>
          <a:prstGeom prst="line">
            <a:avLst/>
          </a:prstGeom>
          <a:noFill/>
          <a:ln w="19050">
            <a:solidFill>
              <a:srgbClr val="FF8A7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623560" y="2084637"/>
            <a:ext cx="0" cy="2414405"/>
          </a:xfrm>
          <a:prstGeom prst="line">
            <a:avLst/>
          </a:prstGeom>
          <a:noFill/>
          <a:ln w="28575">
            <a:solidFill>
              <a:srgbClr val="FFC857"/>
            </a:solidFill>
            <a:prstDash val="solid"/>
            <a:headEnd type="arrow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4087368" y="477316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เลื่อนมาก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63640" y="1463040"/>
            <a:ext cx="5349240" cy="3520440"/>
          </a:xfrm>
          <a:prstGeom prst="roundRect">
            <a:avLst>
              <a:gd name="adj" fmla="val 2338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591056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วัตถุอยู่ไกล (สุดแขน)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65976" y="2414016"/>
            <a:ext cx="201168" cy="201168"/>
          </a:xfrm>
          <a:prstGeom prst="ellipse">
            <a:avLst/>
          </a:prstGeom>
          <a:solidFill>
            <a:srgbClr val="141F3F"/>
          </a:solidFill>
          <a:ln w="19050">
            <a:solidFill>
              <a:srgbClr val="EAF0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9984" y="2478024"/>
            <a:ext cx="73152" cy="73152"/>
          </a:xfrm>
          <a:prstGeom prst="ellipse">
            <a:avLst/>
          </a:prstGeom>
          <a:solidFill>
            <a:srgbClr val="EAF0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665976" y="3968496"/>
            <a:ext cx="201168" cy="201168"/>
          </a:xfrm>
          <a:prstGeom prst="ellipse">
            <a:avLst/>
          </a:prstGeom>
          <a:solidFill>
            <a:srgbClr val="141F3F"/>
          </a:solidFill>
          <a:ln w="19050">
            <a:solidFill>
              <a:srgbClr val="EAF0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29984" y="4032504"/>
            <a:ext cx="73152" cy="73152"/>
          </a:xfrm>
          <a:prstGeom prst="ellipse">
            <a:avLst/>
          </a:prstGeom>
          <a:solidFill>
            <a:srgbClr val="EAF0FF"/>
          </a:solidFill>
          <a:ln/>
        </p:spPr>
      </p:sp>
      <p:sp>
        <p:nvSpPr>
          <p:cNvPr id="31" name="Shape 29"/>
          <p:cNvSpPr/>
          <p:nvPr/>
        </p:nvSpPr>
        <p:spPr>
          <a:xfrm>
            <a:off x="9601200" y="3200400"/>
            <a:ext cx="182880" cy="182880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155680" y="1874520"/>
            <a:ext cx="0" cy="2834640"/>
          </a:xfrm>
          <a:prstGeom prst="line">
            <a:avLst/>
          </a:prstGeom>
          <a:noFill/>
          <a:ln w="25400">
            <a:solidFill>
              <a:srgbClr val="EAF0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67144" y="2514600"/>
            <a:ext cx="4288536" cy="1165860"/>
          </a:xfrm>
          <a:prstGeom prst="line">
            <a:avLst/>
          </a:prstGeom>
          <a:noFill/>
          <a:ln w="19050">
            <a:solidFill>
              <a:srgbClr val="6FA8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6867144" y="2903220"/>
            <a:ext cx="4288536" cy="1165860"/>
          </a:xfrm>
          <a:prstGeom prst="line">
            <a:avLst/>
          </a:prstGeom>
          <a:noFill/>
          <a:ln w="19050">
            <a:solidFill>
              <a:srgbClr val="6FA8FF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1320272" y="2903220"/>
            <a:ext cx="0" cy="777240"/>
          </a:xfrm>
          <a:prstGeom prst="line">
            <a:avLst/>
          </a:prstGeom>
          <a:noFill/>
          <a:ln w="28575">
            <a:solidFill>
              <a:srgbClr val="FFC857"/>
            </a:solidFill>
            <a:prstDash val="solid"/>
            <a:headEnd type="arrow"/>
            <a:tailEnd type="arrow"/>
          </a:ln>
        </p:spPr>
      </p:sp>
      <p:sp>
        <p:nvSpPr>
          <p:cNvPr id="36" name="Text 34"/>
          <p:cNvSpPr/>
          <p:nvPr/>
        </p:nvSpPr>
        <p:spPr>
          <a:xfrm>
            <a:off x="9784080" y="477316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เลื่อนน้อย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66928" y="5230368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23304F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321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มุมพาแรลแลกซ์จึงเป็น "ไม้บรรทัดวัดระยะ" — </a:t>
            </a:r>
            <a:pPr indent="0" marL="0">
              <a:buNone/>
            </a:pPr>
            <a:r>
              <a:rPr lang="en-US" sz="14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วัดมุมที่เลื่อนได้ ก็คำนวณย้อนกลับเป็นระยะทาง · มุมมาก = ใกล้ · มุมน้อย = ไกล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CONCEPT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"สองตา" ของนักดาราศาสตร์ — ตำแหน่งโลกที่ห่างกัน 6 เดือน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ถ่ายภาพดาวดวงเดียวกัน 2 ครั้ง ห่างกัน 6 เดือน (เส้นฐานยาว 2 AU) — ดาวใกล้จะเลื่อนตำแหน่งเทียบกับดาวพื้นหลังที่ไกลมาก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1691640"/>
            <a:ext cx="11064240" cy="4160520"/>
          </a:xfrm>
          <a:prstGeom prst="roundRect">
            <a:avLst>
              <a:gd name="adj" fmla="val 1978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0" y="2011680"/>
            <a:ext cx="0" cy="3520440"/>
          </a:xfrm>
          <a:prstGeom prst="line">
            <a:avLst/>
          </a:prstGeom>
          <a:noFill/>
          <a:ln w="25400">
            <a:solidFill>
              <a:srgbClr val="EAF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ดาวพื้นหลัง (ไกลมาก)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691640" y="2286000"/>
            <a:ext cx="1005840" cy="2926080"/>
          </a:xfrm>
          <a:prstGeom prst="ellipse">
            <a:avLst/>
          </a:prstGeom>
          <a:ln w="15875">
            <a:solidFill>
              <a:srgbClr val="5C6FA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975104" y="3529584"/>
            <a:ext cx="438912" cy="438912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2" name="Text 20"/>
          <p:cNvSpPr/>
          <p:nvPr/>
        </p:nvSpPr>
        <p:spPr>
          <a:xfrm>
            <a:off x="1417320" y="40416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ดวงอาทิตย์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93976" y="2185416"/>
            <a:ext cx="201168" cy="201168"/>
          </a:xfrm>
          <a:prstGeom prst="ellipse">
            <a:avLst/>
          </a:prstGeom>
          <a:solidFill>
            <a:srgbClr val="6FA8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93976" y="5111496"/>
            <a:ext cx="201168" cy="201168"/>
          </a:xfrm>
          <a:prstGeom prst="ellipse">
            <a:avLst/>
          </a:prstGeom>
          <a:solidFill>
            <a:srgbClr val="6FA8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1993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โลก (ม.ค.)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13232" y="5285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โลก (ก.ค.)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 flipV="1">
            <a:off x="2194560" y="2286000"/>
            <a:ext cx="0" cy="1463040"/>
          </a:xfrm>
          <a:prstGeom prst="line">
            <a:avLst/>
          </a:prstGeom>
          <a:noFill/>
          <a:ln w="22225">
            <a:solidFill>
              <a:srgbClr val="EAF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04288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 AU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08192" y="3639312"/>
            <a:ext cx="219456" cy="219456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30" name="Text 28"/>
          <p:cNvSpPr/>
          <p:nvPr/>
        </p:nvSpPr>
        <p:spPr>
          <a:xfrm>
            <a:off x="598932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7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ดาวใกล้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286000" y="2286000"/>
            <a:ext cx="8549640" cy="3044952"/>
          </a:xfrm>
          <a:prstGeom prst="line">
            <a:avLst/>
          </a:prstGeom>
          <a:noFill/>
          <a:ln w="19050">
            <a:solidFill>
              <a:srgbClr val="6FA8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2286000" y="2066544"/>
            <a:ext cx="8549640" cy="3145536"/>
          </a:xfrm>
          <a:prstGeom prst="line">
            <a:avLst/>
          </a:prstGeom>
          <a:noFill/>
          <a:ln w="19050">
            <a:solidFill>
              <a:srgbClr val="6FA8F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9189720" y="53492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เห็นจาก ม.ค.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89520" y="22402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เห็นจาก ก.ค.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94560" y="3749040"/>
            <a:ext cx="4023360" cy="0"/>
          </a:xfrm>
          <a:prstGeom prst="line">
            <a:avLst/>
          </a:prstGeom>
          <a:noFill/>
          <a:ln w="12700">
            <a:solidFill>
              <a:srgbClr val="5C6FA0"/>
            </a:solidFill>
            <a:prstDash val="sysDot"/>
          </a:ln>
        </p:spPr>
      </p:sp>
      <p:sp>
        <p:nvSpPr>
          <p:cNvPr id="36" name="Shape 34"/>
          <p:cNvSpPr/>
          <p:nvPr/>
        </p:nvSpPr>
        <p:spPr>
          <a:xfrm>
            <a:off x="6217920" y="3749040"/>
            <a:ext cx="4617720" cy="0"/>
          </a:xfrm>
          <a:prstGeom prst="line">
            <a:avLst/>
          </a:prstGeom>
          <a:noFill/>
          <a:ln w="12700">
            <a:solidFill>
              <a:srgbClr val="39466F"/>
            </a:solidFill>
            <a:prstDash val="sysDot"/>
          </a:ln>
        </p:spPr>
      </p:sp>
      <p:sp>
        <p:nvSpPr>
          <p:cNvPr id="37" name="Text 35"/>
          <p:cNvSpPr/>
          <p:nvPr/>
        </p:nvSpPr>
        <p:spPr>
          <a:xfrm>
            <a:off x="5349240" y="343814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p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66928" y="55321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รูปที่ 2  มุมพาแรลแลกซ์ p = ครึ่งหนึ่งของมุมเลื่อนทั้งหมด = มุมที่เส้นฐาน 1 AU รองรับเมื่อมองจากดาวดวงนั้น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66928" y="5943600"/>
            <a:ext cx="11064240" cy="457200"/>
          </a:xfrm>
          <a:prstGeom prst="roundRect">
            <a:avLst>
              <a:gd name="adj" fmla="val 18000"/>
            </a:avLst>
          </a:prstGeom>
          <a:solidFill>
            <a:srgbClr val="23304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96188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ดาวยิ่งใกล้ → เส้นเล็งสองครั้งยิ่งกางมุมกว้าง → p ยิ่งใหญ่  (มุมในรูปถูกขยายให้ดูง่าย — ของจริงเล็กกว่า 1 ฟิลิปดา!)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CONCEPT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มุมที่เล็กมาก — ต้องมีหน่วยใหม่ และนิยามระยะใหม่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66928" y="1554480"/>
            <a:ext cx="2331720" cy="1188720"/>
          </a:xfrm>
          <a:prstGeom prst="roundRect">
            <a:avLst>
              <a:gd name="adj" fmla="val 6923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1°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66928" y="22677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องศา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2148840"/>
            <a:ext cx="219456" cy="0"/>
          </a:xfrm>
          <a:prstGeom prst="line">
            <a:avLst/>
          </a:prstGeom>
          <a:noFill/>
          <a:ln w="25400">
            <a:solidFill>
              <a:srgbClr val="9FB3D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72968" y="1554480"/>
            <a:ext cx="2331720" cy="1188720"/>
          </a:xfrm>
          <a:prstGeom prst="roundRect">
            <a:avLst>
              <a:gd name="adj" fmla="val 6923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= 60′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172968" y="22677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ลิปดา (arcminute)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32120" y="2148840"/>
            <a:ext cx="219456" cy="0"/>
          </a:xfrm>
          <a:prstGeom prst="line">
            <a:avLst/>
          </a:prstGeom>
          <a:noFill/>
          <a:ln w="25400">
            <a:solidFill>
              <a:srgbClr val="9FB3D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779008" y="1554480"/>
            <a:ext cx="2331720" cy="1188720"/>
          </a:xfrm>
          <a:prstGeom prst="roundRect">
            <a:avLst>
              <a:gd name="adj" fmla="val 6923"/>
            </a:avLst>
          </a:prstGeom>
          <a:solidFill>
            <a:srgbClr val="23304F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79008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= 3600″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779008" y="22677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ฟิลิปดา (arcsecond)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49640" y="1554480"/>
            <a:ext cx="3063240" cy="1188720"/>
          </a:xfrm>
          <a:prstGeom prst="roundRect">
            <a:avLst>
              <a:gd name="adj" fmla="val 6923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32520" y="1645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มุม 1″ เล็กแค่ไหน?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เท่ากับมองเหรียญบาท ที่วางห่างออกไปราว 5 กิโลเมตร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2926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ดาวที่มุมพาแรลแลกซ์ใหญ่ที่สุดบนฟ้า (พร็อกซิมา เซนทอรี) ยังมี p ไม่ถึง 1″ — ดาวทุกดวงมุมเล็กกว่านี้ทั้งหมด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" y="3520440"/>
            <a:ext cx="11064240" cy="2377440"/>
          </a:xfrm>
          <a:prstGeom prst="roundRect">
            <a:avLst>
              <a:gd name="adj" fmla="val 3462"/>
            </a:avLst>
          </a:prstGeom>
          <a:solidFill>
            <a:srgbClr val="141F3F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7033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นิยามหน่วยระยะใหม่ — พาร์เซก (parsec, pc)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68680" y="4160520"/>
            <a:ext cx="10424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 พาร์เซก = ระยะของดาวที่ทำให้มุมพาแรลแลกซ์ p = 1″ พอดี
</a:t>
            </a:r>
            <a:pPr indent="0" marL="0">
              <a:lnSpc>
                <a:spcPts val="3000"/>
              </a:lnSpc>
              <a:buNone/>
            </a:pPr>
            <a:r>
              <a:rPr lang="en-US" sz="14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ชื่อมาจาก  parallax of one arcsecond  — ตั้งหน่วยจากวิธีวัดตรง ๆ
</a:t>
            </a:r>
            <a:pPr indent="0" marL="0">
              <a:lnSpc>
                <a:spcPts val="3000"/>
              </a:lnSpc>
              <a:buNone/>
            </a:pPr>
            <a:r>
              <a:rPr lang="en-US" sz="155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 pc = 3.26 ปีแสง = 206,265 AU = 3.086 × 10¹⁶ m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KEY FORMULA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สูตรเดียวจบ — สั้นจนน่าตกใจ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2651760" y="1554480"/>
            <a:ext cx="6858000" cy="2286000"/>
          </a:xfrm>
          <a:prstGeom prst="roundRect">
            <a:avLst>
              <a:gd name="adj" fmla="val 3600"/>
            </a:avLst>
          </a:prstGeom>
          <a:solidFill>
            <a:srgbClr val="23304F"/>
          </a:solidFill>
          <a:ln w="25400">
            <a:solidFill>
              <a:srgbClr val="FFC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7830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i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  =  1 / p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2651760" y="3063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 = ระยะดาว (พาร์เซก, pc)   ·   p = มุมพาแรลแลกซ์ (ฟิลิปดา, ″) เท่านั้น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" y="4114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ลองไล่ดู — มุมยิ่งเล็ก ดาวยิ่งไกล (แปรผกผันกันพอดี)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57200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6817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p = 1″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5120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 = 1 pc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566160" y="457200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46817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p = 0.5″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566160" y="5120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 = 2 pc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263640" y="457200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46817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p = 0.1″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263640" y="5120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 = 10 pc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961120" y="457200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0" y="46817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p = 0.01″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961120" y="5120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 = 100 pc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66928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FB3A3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เงื่อนไขเดียวที่ห้ามพลาด: ต้องใช้หน่วย ″ กับ pc คู่กันเสมอ — ห้ามแทนองศาหรือปีแสงลงสูตรตรง ๆ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ตัวอย่างวิธีทำ — แล้วถึงตาคุณ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66928" y="1463040"/>
            <a:ext cx="5577840" cy="4480560"/>
          </a:xfrm>
          <a:prstGeom prst="roundRect">
            <a:avLst>
              <a:gd name="adj" fmla="val 1837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627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ตัวอย่าง (ข้อ 2)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0116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ดาวดวงหนึ่งมีมุมพาแรลแลกซ์ p = 0.5″</a:t>
            </a:r>
            <a:endParaRPr lang="en-US" sz="15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ดาวดวงนี้อยู่ห่างจากโลกกี่พาร์เซก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22960" y="2971800"/>
            <a:ext cx="5074920" cy="0"/>
          </a:xfrm>
          <a:prstGeom prst="line">
            <a:avLst/>
          </a:prstGeom>
          <a:noFill/>
          <a:ln w="12700">
            <a:solidFill>
              <a:srgbClr val="2C3D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15468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5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สูตร      </a:t>
            </a:r>
            <a:pPr indent="0" marL="0">
              <a:lnSpc>
                <a:spcPts val="3200"/>
              </a:lnSpc>
              <a:buNone/>
            </a:pPr>
            <a:r>
              <a:rPr lang="en-US" sz="1600" b="1" i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 = 1/p
</a:t>
            </a:r>
            <a:pPr indent="0" marL="0">
              <a:lnSpc>
                <a:spcPts val="3200"/>
              </a:lnSpc>
              <a:buNone/>
            </a:pPr>
            <a:r>
              <a:rPr lang="en-US" sz="15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แทนค่า  </a:t>
            </a:r>
            <a:pPr indent="0" marL="0">
              <a:lnSpc>
                <a:spcPts val="3200"/>
              </a:lnSpc>
              <a:buNone/>
            </a:pPr>
            <a:r>
              <a:rPr lang="en-US" sz="16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 = 1/0.5
</a:t>
            </a:r>
            <a:pPr indent="0" marL="0">
              <a:lnSpc>
                <a:spcPts val="3200"/>
              </a:lnSpc>
              <a:buNone/>
            </a:pPr>
            <a:r>
              <a:rPr lang="en-US" sz="15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ตอบ      </a:t>
            </a:r>
            <a:pPr indent="0" marL="0">
              <a:lnSpc>
                <a:spcPts val="3200"/>
              </a:lnSpc>
              <a:buNone/>
            </a:pPr>
            <a:r>
              <a:rPr lang="en-US" sz="18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 = 2 พาร์เซก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4892040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9834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หัวใจของคะแนนเต็ม: เขียนครบ 3 ขั้น — สูตร → แทนค่า → ตอบพร้อมหน่วย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0" y="1463040"/>
            <a:ext cx="5230368" cy="4480560"/>
          </a:xfrm>
          <a:prstGeom prst="roundRect">
            <a:avLst>
              <a:gd name="adj" fmla="val 1837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6276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ลองทำเอง 2 นาที (ลงแบบฝึกหัดเลย)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56832" y="2103120"/>
            <a:ext cx="4709160" cy="1508760"/>
          </a:xfrm>
          <a:prstGeom prst="roundRect">
            <a:avLst>
              <a:gd name="adj" fmla="val 5455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240280"/>
            <a:ext cx="4343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ข้อ 3  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ดาวอีกดวงวัดมุมพาแรลแลกซ์ได้เพียง 0.02″ จงหาระยะของดาวเป็นพาร์เซก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656832" y="3794760"/>
            <a:ext cx="4709160" cy="1508760"/>
          </a:xfrm>
          <a:prstGeom prst="roundRect">
            <a:avLst>
              <a:gd name="adj" fmla="val 5455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931920"/>
            <a:ext cx="4343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ข้อ 4  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ถ้าดาวอยู่ห่างจากโลก 4 พาร์เซก ควรวัดมุมพาแรลแลกซ์ได้กี่ฟิลิปดา (คิดย้อนกลับ!)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656832" y="5440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ทำเสร็จแล้วจับคู่เช็คกับเพื่อน — ต่อด้วยตารางข้อ 5 เป็นการบ้าน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CONCEPT 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หน่วยระยะทางดาราศาสตร์ 3 ชั้น — เลือกตามขนาดของสิ่งที่วัด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66928" y="1508760"/>
            <a:ext cx="3520440" cy="4069080"/>
          </a:xfrm>
          <a:prstGeom prst="roundRect">
            <a:avLst>
              <a:gd name="adj" fmla="val 2338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1508760"/>
            <a:ext cx="3520440" cy="128016"/>
          </a:xfrm>
          <a:prstGeom prst="roundRect">
            <a:avLst>
              <a:gd name="adj" fmla="val 35714"/>
            </a:avLst>
          </a:prstGeom>
          <a:solidFill>
            <a:srgbClr val="FFC857"/>
          </a:solidFill>
          <a:ln/>
        </p:spPr>
      </p:sp>
      <p:sp>
        <p:nvSpPr>
          <p:cNvPr id="15" name="Shape 13"/>
          <p:cNvSpPr/>
          <p:nvPr/>
        </p:nvSpPr>
        <p:spPr>
          <a:xfrm>
            <a:off x="2130552" y="2231136"/>
            <a:ext cx="384048" cy="38404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6" name="Shape 14"/>
          <p:cNvSpPr/>
          <p:nvPr/>
        </p:nvSpPr>
        <p:spPr>
          <a:xfrm>
            <a:off x="1682496" y="2103120"/>
            <a:ext cx="1280160" cy="658368"/>
          </a:xfrm>
          <a:prstGeom prst="ellipse">
            <a:avLst/>
          </a:prstGeom>
          <a:ln w="15875">
            <a:solidFill>
              <a:srgbClr val="9FB3D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880360" y="2331720"/>
            <a:ext cx="128016" cy="128016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90779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AU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4088" y="34747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หน่วยดาราศาสตร์ (Astronomical Unit)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" y="38404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ระยะเฉลี่ยโลก–ดวงอาทิตย์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04088" y="44348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1.496 × 10¹¹ 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41248" y="4846320"/>
            <a:ext cx="2971800" cy="502920"/>
          </a:xfrm>
          <a:prstGeom prst="roundRect">
            <a:avLst>
              <a:gd name="adj" fmla="val 49091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86460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ระยะในระบบสุริยะ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89120" y="1508760"/>
            <a:ext cx="3520440" cy="4069080"/>
          </a:xfrm>
          <a:prstGeom prst="roundRect">
            <a:avLst>
              <a:gd name="adj" fmla="val 2338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1508760"/>
            <a:ext cx="3520440" cy="128016"/>
          </a:xfrm>
          <a:prstGeom prst="roundRect">
            <a:avLst>
              <a:gd name="adj" fmla="val 35714"/>
            </a:avLst>
          </a:prstGeom>
          <a:solidFill>
            <a:srgbClr val="6FA8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577840" y="2395728"/>
            <a:ext cx="1417320" cy="0"/>
          </a:xfrm>
          <a:prstGeom prst="line">
            <a:avLst/>
          </a:prstGeom>
          <a:noFill/>
          <a:ln w="25400">
            <a:solidFill>
              <a:srgbClr val="6FA8FF"/>
            </a:solidFill>
            <a:prstDash val="dash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389120" y="290779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ปีแสง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526280" y="34747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light-year (ly)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26280" y="38404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ระยะที่แสงเดินทางใน 1 ปี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26280" y="44348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9.46 × 10¹⁵ m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663440" y="4846320"/>
            <a:ext cx="2971800" cy="502920"/>
          </a:xfrm>
          <a:prstGeom prst="roundRect">
            <a:avLst>
              <a:gd name="adj" fmla="val 49091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486460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ดาวฤกษ์ · กาแล็กซี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211312" y="1508760"/>
            <a:ext cx="3520440" cy="4069080"/>
          </a:xfrm>
          <a:prstGeom prst="roundRect">
            <a:avLst>
              <a:gd name="adj" fmla="val 2338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11312" y="1508760"/>
            <a:ext cx="3520440" cy="128016"/>
          </a:xfrm>
          <a:prstGeom prst="roundRect">
            <a:avLst>
              <a:gd name="adj" fmla="val 35714"/>
            </a:avLst>
          </a:prstGeom>
          <a:solidFill>
            <a:srgbClr val="7BD8A8"/>
          </a:solidFill>
          <a:ln/>
        </p:spPr>
      </p:sp>
      <p:sp>
        <p:nvSpPr>
          <p:cNvPr id="36" name="Shape 34"/>
          <p:cNvSpPr/>
          <p:nvPr/>
        </p:nvSpPr>
        <p:spPr>
          <a:xfrm>
            <a:off x="9217152" y="2103120"/>
            <a:ext cx="1554480" cy="292608"/>
          </a:xfrm>
          <a:prstGeom prst="line">
            <a:avLst/>
          </a:prstGeom>
          <a:noFill/>
          <a:ln w="22225">
            <a:solidFill>
              <a:srgbClr val="7BD8A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9217152" y="2395728"/>
            <a:ext cx="1554480" cy="301752"/>
          </a:xfrm>
          <a:prstGeom prst="line">
            <a:avLst/>
          </a:prstGeom>
          <a:noFill/>
          <a:ln w="22225">
            <a:solidFill>
              <a:srgbClr val="7BD8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96144" y="2249424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D8A8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1″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11312" y="290779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BD8A8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พาร์เซก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8348472" y="34747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parsec (pc) = 3.26 ปีแสง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48472" y="38404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ระยะที่ทำให้ p = 1″ พอดี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348472" y="44348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D8A8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3.086 × 10¹⁶ m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485632" y="4846320"/>
            <a:ext cx="2971800" cy="502920"/>
          </a:xfrm>
          <a:prstGeom prst="roundRect">
            <a:avLst>
              <a:gd name="adj" fmla="val 49091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486460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งานวัดระยะจริงของนักดาราศาสตร์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66928" y="580644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ตัวเชื่อมที่ใช้ทั้งชุด:  1 pc = 3.26 ปีแสง = 206,265 AU   ·   1 AU = 1.496 × 10¹¹ m   ·   1 ปีแสง = 9.46 × 10¹⁵ m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SCALE OF THE UNIVERSE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บันไดระยะทาง — จากบ้านเรา ออกไปกลางกาแล็กซี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66928" y="1600200"/>
            <a:ext cx="11064240" cy="3749040"/>
          </a:xfrm>
          <a:prstGeom prst="roundRect">
            <a:avLst>
              <a:gd name="adj" fmla="val 2195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703320"/>
            <a:ext cx="10058400" cy="0"/>
          </a:xfrm>
          <a:prstGeom prst="line">
            <a:avLst/>
          </a:prstGeom>
          <a:noFill/>
          <a:ln w="28575">
            <a:solidFill>
              <a:srgbClr val="EAF0F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554480" y="3593592"/>
            <a:ext cx="0" cy="219456"/>
          </a:xfrm>
          <a:prstGeom prst="line">
            <a:avLst/>
          </a:prstGeom>
          <a:noFill/>
          <a:ln w="25400">
            <a:solidFill>
              <a:srgbClr val="EAF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99032" y="3136392"/>
            <a:ext cx="310896" cy="31089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011680"/>
            <a:ext cx="21579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ดวงอาทิตย์
</a:t>
            </a:r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 AU
</a:t>
            </a:r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แสงเดินทาง 8.3 นาที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3593592"/>
            <a:ext cx="0" cy="219456"/>
          </a:xfrm>
          <a:prstGeom prst="line">
            <a:avLst/>
          </a:prstGeom>
          <a:noFill/>
          <a:ln w="25400">
            <a:solidFill>
              <a:srgbClr val="EAF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670048" y="4023360"/>
            <a:ext cx="21579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พร็อกซิมา เซนทอรี
</a:t>
            </a:r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4.24 ปีแสง (1.3 pc)
</a:t>
            </a:r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เพื่อนบ้านใกล้สุด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3593592"/>
            <a:ext cx="0" cy="219456"/>
          </a:xfrm>
          <a:prstGeom prst="line">
            <a:avLst/>
          </a:prstGeom>
          <a:noFill/>
          <a:ln w="25400">
            <a:solidFill>
              <a:srgbClr val="EAF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73168" y="2011680"/>
            <a:ext cx="21579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ซิริอุส
</a:t>
            </a:r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8.6 ปีแสง
</a:t>
            </a:r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ดาวสว่างสุดยามค่ำคืน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55280" y="3593592"/>
            <a:ext cx="0" cy="219456"/>
          </a:xfrm>
          <a:prstGeom prst="line">
            <a:avLst/>
          </a:prstGeom>
          <a:noFill/>
          <a:ln w="25400">
            <a:solidFill>
              <a:srgbClr val="EAF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76288" y="4023360"/>
            <a:ext cx="21579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ดาวเหนือ (Polaris)
</a:t>
            </a:r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~433 ปีแสง
</a:t>
            </a:r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ภาพจากสมัยอยุธยา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149840" y="3593592"/>
            <a:ext cx="0" cy="219456"/>
          </a:xfrm>
          <a:prstGeom prst="line">
            <a:avLst/>
          </a:prstGeom>
          <a:noFill/>
          <a:ln w="25400">
            <a:solidFill>
              <a:srgbClr val="EAF0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85248" y="3127248"/>
            <a:ext cx="329184" cy="329184"/>
          </a:xfrm>
          <a:prstGeom prst="ellipse">
            <a:avLst/>
          </a:prstGeom>
          <a:solidFill>
            <a:srgbClr val="8A5BC4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76688" y="3218688"/>
            <a:ext cx="146304" cy="146304"/>
          </a:xfrm>
          <a:prstGeom prst="ellipse">
            <a:avLst/>
          </a:prstGeom>
          <a:solidFill>
            <a:srgbClr val="EAF0FF"/>
          </a:solidFill>
          <a:ln/>
        </p:spPr>
      </p:sp>
      <p:sp>
        <p:nvSpPr>
          <p:cNvPr id="30" name="Text 28"/>
          <p:cNvSpPr/>
          <p:nvPr/>
        </p:nvSpPr>
        <p:spPr>
          <a:xfrm>
            <a:off x="9070848" y="2011680"/>
            <a:ext cx="21579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ใจกลางทางช้างเผือก
</a:t>
            </a:r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~26,000 ปีแสง
</a:t>
            </a:r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ภาพจากยุคน้ำแข็ง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38160" y="1719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(สเกลถูกบีบ — ระยะจริงแต่ละช่วงห่างกันหลายพันเท่า)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รูปที่ 3  บันไดระยะทาง — ตัวเลข "ปีแสง" ของแต่ละดวง คือ "อายุของภาพ" ที่เรากำลังเห็น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6928" y="585216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23304F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สังเกตอะไรไหม? ยิ่งมองไกล = ยิ่งมองย้อนอดีตลึกลงไป…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CONCEPT 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ทุกครั้งที่มองดาว — เรากำลังอ่านจดหมายจากอดีต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66928" y="141732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23304F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5087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ดาวที่อยู่ห่าง N ปีแสง  =  ภาพของดาวเมื่อ N ปีก่อน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66928" y="2697480"/>
            <a:ext cx="5440680" cy="3063240"/>
          </a:xfrm>
          <a:prstGeom prst="roundRect">
            <a:avLst>
              <a:gd name="adj" fmla="val 2687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★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00200" y="30175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ดาวเหนือ (Polaris) · ห่าง ~433 ปีแสง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68680" y="3611880"/>
            <a:ext cx="4846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แสงที่เห็นคืนนี้ออกเดินทางเมื่อ
</a:t>
            </a:r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พ.ศ. 2569 − 433 = พ.ศ. 2136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สมัยอยุธยา ใกล้ปียุทธหัตถีของสมเด็จพระนเรศวร (พ.ศ. 2135) — แสงเดินทางมาตลอด ไม่เคยหยุดพัก จนถึงตาเราคืนนี้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63640" y="269748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5976" y="3008376"/>
            <a:ext cx="475488" cy="475488"/>
          </a:xfrm>
          <a:prstGeom prst="ellipse">
            <a:avLst/>
          </a:prstGeom>
          <a:solidFill>
            <a:srgbClr val="C24A3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75704" y="3118104"/>
            <a:ext cx="256032" cy="256032"/>
          </a:xfrm>
          <a:prstGeom prst="ellipse">
            <a:avLst/>
          </a:prstGeom>
          <a:solidFill>
            <a:srgbClr val="F2A45C"/>
          </a:solidFill>
          <a:ln/>
        </p:spPr>
      </p:sp>
      <p:sp>
        <p:nvSpPr>
          <p:cNvPr id="22" name="Text 20"/>
          <p:cNvSpPr/>
          <p:nvPr/>
        </p:nvSpPr>
        <p:spPr>
          <a:xfrm>
            <a:off x="7296912" y="3017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ถ้าบีเทลจุสระเบิด "ตอนนี้" ล่ะ?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92240" y="361188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โลกจะยังไม่รู้อะไรเลยไปอีก ~500 ปี เพราะข่าว (แสง) ยังเดินทางมาไม่ถึง
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และในทางกลับกัน — เป็นไปได้ว่า "ที่จริงมันระเบิดไปแล้ว" เมื่อหลายร้อยปีก่อน แต่เรายังเห็นมันส่องแสงอยู่ทุกคืน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→ นี่คือคำตอบของ "คำถามสำคัญข้อ 0" — แต่ยังไม่บอกใคร ให้กลับไปตรวจเองท้ายคาบ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CONCEPT 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อันดับความสว่าง (Magnitude) — "อันดับ" เหมือนอันดับสอบ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" y="123444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กว่า 2,100 ปีก่อน ฮิปปาร์คอส จัดอันดับดาวทั้งฟ้า: สว่างสุด = อันดับ 1 ไล่ถึงริบหรี่สุดที่ตาเปล่าเห็น = อันดับ 6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1755648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23304F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82880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ตัวเลขยิ่งน้อย ดาวยิ่งสว่าง — ที่ 1 คือดีที่สุด เหมือนอันดับสอบ  (สว่างจัดจนติดลบก็มี!)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66928" y="2880360"/>
            <a:ext cx="11064240" cy="2834640"/>
          </a:xfrm>
          <a:prstGeom prst="roundRect">
            <a:avLst>
              <a:gd name="adj" fmla="val 2903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4434840"/>
            <a:ext cx="10149840" cy="0"/>
          </a:xfrm>
          <a:prstGeom prst="line">
            <a:avLst/>
          </a:prstGeom>
          <a:noFill/>
          <a:ln w="28575">
            <a:solidFill>
              <a:srgbClr val="EAF0FF"/>
            </a:solidFill>
            <a:prstDash val="solid"/>
            <a:headEnd type="arrow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51560" y="5440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← สว่างขึ้น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09760" y="544068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ริบหรี่ลง →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600200" y="4343400"/>
            <a:ext cx="0" cy="182880"/>
          </a:xfrm>
          <a:prstGeom prst="line">
            <a:avLst/>
          </a:prstGeom>
          <a:noFill/>
          <a:ln w="22225">
            <a:solidFill>
              <a:srgbClr val="EAF0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9908" y="4091940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2004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−26.7
</a:t>
            </a:r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ดวงอาทิตย์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880360" y="4343400"/>
            <a:ext cx="0" cy="182880"/>
          </a:xfrm>
          <a:prstGeom prst="line">
            <a:avLst/>
          </a:prstGeom>
          <a:noFill/>
          <a:ln w="22225">
            <a:solidFill>
              <a:srgbClr val="EAF0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0068" y="467715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5" name="Text 23"/>
          <p:cNvSpPr/>
          <p:nvPr/>
        </p:nvSpPr>
        <p:spPr>
          <a:xfrm>
            <a:off x="2103120" y="4818888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−12.7
</a:t>
            </a:r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จันทร์เพ็ญ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60520" y="4343400"/>
            <a:ext cx="0" cy="182880"/>
          </a:xfrm>
          <a:prstGeom prst="line">
            <a:avLst/>
          </a:prstGeom>
          <a:noFill/>
          <a:ln w="22225">
            <a:solidFill>
              <a:srgbClr val="EAF0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0228" y="4091940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32004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−4.4
</a:t>
            </a:r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ดาวศุกร์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49240" y="4343400"/>
            <a:ext cx="0" cy="182880"/>
          </a:xfrm>
          <a:prstGeom prst="line">
            <a:avLst/>
          </a:prstGeom>
          <a:noFill/>
          <a:ln w="22225">
            <a:solidFill>
              <a:srgbClr val="EAF0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98948" y="4677156"/>
            <a:ext cx="100584" cy="100584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4818888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−1.5
</a:t>
            </a:r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ซิริอุส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46520" y="4343400"/>
            <a:ext cx="0" cy="182880"/>
          </a:xfrm>
          <a:prstGeom prst="line">
            <a:avLst/>
          </a:prstGeom>
          <a:noFill/>
          <a:ln w="22225">
            <a:solidFill>
              <a:srgbClr val="EAF0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96228" y="4091940"/>
            <a:ext cx="100584" cy="100584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32004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0.0
</a:t>
            </a:r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ดาววีกา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818120" y="4343400"/>
            <a:ext cx="0" cy="182880"/>
          </a:xfrm>
          <a:prstGeom prst="line">
            <a:avLst/>
          </a:prstGeom>
          <a:noFill/>
          <a:ln w="22225">
            <a:solidFill>
              <a:srgbClr val="EAF0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67828" y="4677156"/>
            <a:ext cx="100584" cy="100584"/>
          </a:xfrm>
          <a:prstGeom prst="ellipse">
            <a:avLst/>
          </a:prstGeom>
          <a:solidFill>
            <a:srgbClr val="9FB3DC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4818888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+6
</a:t>
            </a:r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ขีดจำกัดตาเปล่า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144000" y="4343400"/>
            <a:ext cx="0" cy="182880"/>
          </a:xfrm>
          <a:prstGeom prst="line">
            <a:avLst/>
          </a:prstGeom>
          <a:noFill/>
          <a:ln w="22225">
            <a:solidFill>
              <a:srgbClr val="EAF0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93708" y="4091940"/>
            <a:ext cx="100584" cy="100584"/>
          </a:xfrm>
          <a:prstGeom prst="ellipse">
            <a:avLst/>
          </a:prstGeom>
          <a:solidFill>
            <a:srgbClr val="9FB3DC"/>
          </a:solidFill>
          <a:ln/>
        </p:spPr>
      </p:sp>
      <p:sp>
        <p:nvSpPr>
          <p:cNvPr id="40" name="Text 38"/>
          <p:cNvSpPr/>
          <p:nvPr/>
        </p:nvSpPr>
        <p:spPr>
          <a:xfrm>
            <a:off x="8366760" y="32004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+14
</a:t>
            </a:r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ดาวพลูโต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469880" y="4343400"/>
            <a:ext cx="0" cy="182880"/>
          </a:xfrm>
          <a:prstGeom prst="line">
            <a:avLst/>
          </a:prstGeom>
          <a:noFill/>
          <a:ln w="22225">
            <a:solidFill>
              <a:srgbClr val="EAF0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419588" y="4677156"/>
            <a:ext cx="100584" cy="100584"/>
          </a:xfrm>
          <a:prstGeom prst="ellipse">
            <a:avLst/>
          </a:prstGeom>
          <a:solidFill>
            <a:srgbClr val="9FB3DC"/>
          </a:solidFill>
          <a:ln/>
        </p:spPr>
      </p:sp>
      <p:sp>
        <p:nvSpPr>
          <p:cNvPr id="43" name="Text 41"/>
          <p:cNvSpPr/>
          <p:nvPr/>
        </p:nvSpPr>
        <p:spPr>
          <a:xfrm>
            <a:off x="9692640" y="4818888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+20
</a:t>
            </a:r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ขีดจำกัด Gaia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66928" y="2971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อันดับความสว่างปรากฏ (m) ของวัตถุคุ้นตา — สเกลตำแหน่งไม่เท่าจริง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เช็คเร็ว: ซิริอุส (−1.5) กับ ดาววีกา (0.0) — ดวงไหนสว่างกว่า?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KEY FORMULA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ต่างกัน 5 อันดับ = สว่างต่างกัน 100 เท่า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66928" y="1463040"/>
            <a:ext cx="6583680" cy="2148840"/>
          </a:xfrm>
          <a:prstGeom prst="roundRect">
            <a:avLst>
              <a:gd name="adj" fmla="val 3830"/>
            </a:avLst>
          </a:prstGeom>
          <a:solidFill>
            <a:srgbClr val="23304F"/>
          </a:solidFill>
          <a:ln w="25400">
            <a:solidFill>
              <a:srgbClr val="FFC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8308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อัตราส่วนความสว่าง = 100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Δm/5</a:t>
            </a:r>
            <a:pPr algn="ctr" indent="0" marL="0">
              <a:buNone/>
            </a:pPr>
            <a:r>
              <a:rPr lang="en-US" sz="24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 = (2.512)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Δm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6928" y="26517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Δm = ผลต่างอันดับความสว่างของดาวสองดวง</a:t>
            </a:r>
            <a:endParaRPr lang="en-US" sz="145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ต่าง 1 อันดับ = 2.512 เท่า (มาจาก ⁵√100)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452360" y="1463040"/>
            <a:ext cx="4160520" cy="2148840"/>
          </a:xfrm>
          <a:prstGeom prst="roundRect">
            <a:avLst>
              <a:gd name="adj" fmla="val 3830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ตารางใช้บ่อย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26680" y="19385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Δm =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9720" y="19385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2.512 เท่า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26680" y="234086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Δm =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89720" y="234086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≈ 6.3 เท่า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26680" y="27432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Δm = 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100 เท่า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26680" y="314553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Δm = 10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89720" y="314553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100 × 100 = 10⁴ เท่า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388620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023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ตัวอย่าง (ข้อ 17)  ดาว A มี m = 2 และดาว B มี m = 7 — ดาว A สว่างกว่ากี่เท่า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Δm = 7 − 2 = 5   →   อัตราส่วน = 100</a:t>
            </a:r>
            <a:pPr indent="0" marL="0">
              <a:buNone/>
            </a:pPr>
            <a:r>
              <a:rPr lang="en-US" sz="1600" baseline="300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5/5</a:t>
            </a:r>
            <a:pPr indent="0" marL="0">
              <a:buNone/>
            </a:pPr>
            <a:r>
              <a:rPr lang="en-US" sz="16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 = 100¹ = </a:t>
            </a:r>
            <a:pPr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100 เท่า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5029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สังเกต: ระบบนี้ขึ้นกับ "ผลต่าง" ของอันดับ ไม่ใช่ค่าของอันดับเอง — m = 1 กับ 6 ก็ต่าง 100 เท่าเหมือนกัน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ลองทำ: ข้อ 16 · 18 · 20 ในแบบฝึกหัด (3 นาที)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SPOT THE ERROR · จับผิดให้ได้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เพื่อนคนนี้สรุปผิดตรงไหน?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68680" y="1600200"/>
            <a:ext cx="10744200" cy="1874520"/>
          </a:xfrm>
          <a:prstGeom prst="roundRect">
            <a:avLst>
              <a:gd name="adj" fmla="val 4390"/>
            </a:avLst>
          </a:prstGeom>
          <a:solidFill>
            <a:srgbClr val="141F3F"/>
          </a:solidFill>
          <a:ln w="22225">
            <a:solidFill>
              <a:srgbClr val="FF8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💬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103120" y="1783080"/>
            <a:ext cx="9235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900" i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"ดาว ก มีอันดับความสว่าง m = 1 ส่วนดาว ข มี m = 4</a:t>
            </a:r>
            <a:endParaRPr lang="en-US" sz="19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900" i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ดังนั้นดาว ข สว่างกว่าดาว ก — เพราะ 4 มากกว่า 1"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68680" y="384048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8136" y="4306824"/>
            <a:ext cx="438912" cy="438912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88136" y="4306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73352" y="39776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ข้อสรุปนี้ผิดตรงไหน?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26280" y="384048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45736" y="4306824"/>
            <a:ext cx="438912" cy="438912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22" name="Text 20"/>
          <p:cNvSpPr/>
          <p:nvPr/>
        </p:nvSpPr>
        <p:spPr>
          <a:xfrm>
            <a:off x="4745736" y="4306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30952" y="39776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ที่ถูกคือดวงไหนสว่างกว่า?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83880" y="384048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03336" y="4306824"/>
            <a:ext cx="438912" cy="438912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26" name="Text 24"/>
          <p:cNvSpPr/>
          <p:nvPr/>
        </p:nvSpPr>
        <p:spPr>
          <a:xfrm>
            <a:off x="8403336" y="4306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88552" y="39776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สว่างกว่ากันประมาณกี่เท่า?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68680" y="5486400"/>
            <a:ext cx="10744200" cy="731520"/>
          </a:xfrm>
          <a:prstGeom prst="roundRect">
            <a:avLst>
              <a:gd name="adj" fmla="val 11250"/>
            </a:avLst>
          </a:prstGeom>
          <a:solidFill>
            <a:srgbClr val="23304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55955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คิดเดี่ยว 1 นาที → คุยคู่ 1 นาที → สุ่มถาม แล้วเขียนคำตอบลงกรอบ Spot the Error ในแบบฝึกหัด (หน้า 7)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⭐ ระดับสอบแข่งขัน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ขีดจำกัดของพาแรลแลกซ์ — และผู้สืบทอดตำแหน่ง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" y="123444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ความแม่นของวิธีนี้ถูกกำหนดด้วย "ความละเอียดของการวัดมุม" — มุมเล็กสุดที่วัดไหว กำหนดระยะไกลสุดที่วัดได้ (d = 1/p)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" y="1783080"/>
            <a:ext cx="7178040" cy="914400"/>
          </a:xfrm>
          <a:prstGeom prst="roundRect">
            <a:avLst>
              <a:gd name="adj" fmla="val 9000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กล้องบนพื้นโลก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2258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ถูกบรรยากาศรบกวน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วัดได้ละเอียด 0.01″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80560" y="2240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→ วัดไกลสุด ~100 pc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2862072"/>
            <a:ext cx="7178040" cy="914400"/>
          </a:xfrm>
          <a:prstGeom prst="roundRect">
            <a:avLst>
              <a:gd name="adj" fmla="val 9000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9535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ดาวเทียม Hipparcos (พ.ศ. 2532)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3337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เก็บดาว &gt; 100,000 ดวง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2953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วัดได้ละเอียด 0.001″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80560" y="33192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→ วัดไกลสุด ~1,000 pc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66928" y="3941064"/>
            <a:ext cx="7178040" cy="914400"/>
          </a:xfrm>
          <a:prstGeom prst="roundRect">
            <a:avLst>
              <a:gd name="adj" fmla="val 9000"/>
            </a:avLst>
          </a:prstGeom>
          <a:solidFill>
            <a:srgbClr val="141F3F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03250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ดาวเทียม Gaia (พ.ศ. 2556–)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22960" y="44165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แผนที่ดาว 1.4 พันล้านดวง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0" y="403250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วัดได้ละเอียด 0.00002″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80560" y="43982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→ วัดไกลสุด ~50,000 pc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8046720" y="1783080"/>
            <a:ext cx="3584448" cy="3236976"/>
          </a:xfrm>
          <a:prstGeom prst="roundRect">
            <a:avLst>
              <a:gd name="adj" fmla="val 2542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19385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ไกลกว่านั้นล่ะ?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275320" y="2331720"/>
            <a:ext cx="31546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มุมเล็กจนวัดไม่ไหว → ใช้ "เทียนมาตรฐาน" (standard candles)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• ดาวแปรแสงเซเฟอิด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• ซูเปอร์โนวาชนิด Ia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รู้กำลังส่องสว่างจริง เทียบกับความสว่างปรากฏ แล้วย้อนคำนวณระยะ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" y="5230368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23304F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321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แต่บันไดทุกขั้นต้อง "สอบเทียบ" กับขั้นแรกเสมอ — พาแรลแลกซ์คือรากฐานของการวัดระยะทั้งเอกภพ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172200" y="64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955548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6309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428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·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COSMOS LOG · EP03 เสียงร้องจากอดีต · ว30105 โลกและอวกาศ ม.5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F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WRAP-UP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"/>
            <a:ext cx="11109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แผนที่หลักการ — ปิดจดหมายจากอดีต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66928" y="155448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69164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① วัดมุม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2121408"/>
            <a:ext cx="193852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มุมพาแรลแลกซ์ p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(หน่วย: ฟิลิปดา ″)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70048" y="2359152"/>
            <a:ext cx="18288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71216" y="155448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71216" y="169164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② คำนวณ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944368" y="2121408"/>
            <a:ext cx="193852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 = 1/p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ได้ระยะเป็น pc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974336" y="2359152"/>
            <a:ext cx="18288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75504" y="155448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75504" y="169164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③ แปลงหน่วย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48656" y="2121408"/>
            <a:ext cx="193852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× 3.26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ได้เป็นปีแสง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278624" y="2359152"/>
            <a:ext cx="18288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79792" y="155448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9792" y="169164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④ อ่านจดหมาย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52944" y="2121408"/>
            <a:ext cx="193852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ห่าง N ปีแสง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= ภาพเมื่อ N ปีก่อน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582912" y="2359152"/>
            <a:ext cx="18288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84080" y="155448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1C2B52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0" y="169164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⑤ ความสว่าง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857232" y="2121408"/>
            <a:ext cx="193852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m เลขน้อย = สว่าง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ต่าง 5 = 100 เท่า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6928" y="3291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FB3D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ดาวไกลเกิน ~1,000 pc (จากพื้นโลก) → มุมเล็กเกินวัด → ส่งไม้ต่อให้ดาวเทียม Gaia และเทียนมาตรฐาน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66928" y="3840480"/>
            <a:ext cx="5577840" cy="2148840"/>
          </a:xfrm>
          <a:prstGeom prst="roundRect">
            <a:avLst>
              <a:gd name="adj" fmla="val 3830"/>
            </a:avLst>
          </a:prstGeom>
          <a:solidFill>
            <a:srgbClr val="23304F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00507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⟲ กลับไปที่คำถามสำคัญ (ข้อ 0)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22960" y="448056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เปิดหน้า 1 ของแบบฝึกหัด ตรวจคำตอบ "ก่อนเรียน" ของตัวเอง แล้วเติมช่อง "หลังเรียนจบ"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ถ้าคำตอบเปลี่ยน — เขียนสั้น ๆ ว่าความเข้าใจเราเปลี่ยนตรงไหน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0" y="3840480"/>
            <a:ext cx="5230368" cy="2148840"/>
          </a:xfrm>
          <a:prstGeom prst="roundRect">
            <a:avLst>
              <a:gd name="adj" fmla="val 3830"/>
            </a:avLst>
          </a:prstGeom>
          <a:solidFill>
            <a:srgbClr val="141F3F"/>
          </a:solidFill>
          <a:ln w="12700">
            <a:solidFill>
              <a:srgbClr val="2C3D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400507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A8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✎ 3-2-1 ก่อนส่ง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656832" y="44805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3</a:t>
            </a:r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  สิ่งที่ได้เรียนรู้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2</a:t>
            </a:r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  สิ่งที่อยากรู้ต่อ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C85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</a:t>
            </a:r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EAF0F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  คำถามที่ยังค้างใจ — คำถามของคุณคือประตูสู่ EP04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6928" y="614476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B3A3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ตอนต่อไป  EP04 — วันสุดท้ายของดาวยักษ์แดง ★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EP03 พาแรลแลกซ์และระยะดาว — ไฟล์ช่วยสอน</dc:title>
  <dc:subject>PptxGenJS Presentation</dc:subject>
  <dc:creator>AJ Komane Papato</dc:creator>
  <cp:lastModifiedBy>AJ Komane Papato</cp:lastModifiedBy>
  <cp:revision>1</cp:revision>
  <dcterms:created xsi:type="dcterms:W3CDTF">2026-06-12T04:28:22Z</dcterms:created>
  <dcterms:modified xsi:type="dcterms:W3CDTF">2026-06-12T04:28:22Z</dcterms:modified>
</cp:coreProperties>
</file>