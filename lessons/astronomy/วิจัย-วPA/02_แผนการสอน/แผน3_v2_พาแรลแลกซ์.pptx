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548640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1280160"/>
            <a:ext cx="27432" cy="274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0" y="73152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1097280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45720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0" y="914400"/>
            <a:ext cx="27432" cy="274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1280160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926080"/>
            <a:ext cx="27432" cy="274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0" y="274320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41280" y="5029200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5486400"/>
            <a:ext cx="27432" cy="274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594360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0" y="566928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9326880" y="6126480"/>
            <a:ext cx="27432" cy="274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2286000"/>
            <a:ext cx="1463040" cy="1463040"/>
          </a:xfrm>
          <a:prstGeom prst="roundRect">
            <a:avLst>
              <a:gd name="adj" fmla="val 11250"/>
            </a:avLst>
          </a:prstGeom>
          <a:solidFill>
            <a:srgbClr val="3B5BDB"/>
          </a:solidFill>
          <a:ln w="25400">
            <a:solidFill>
              <a:srgbClr val="DDE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19456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8000" dirty="0"/>
          </a:p>
        </p:txBody>
      </p:sp>
      <p:sp>
        <p:nvSpPr>
          <p:cNvPr id="19" name="Text 17"/>
          <p:cNvSpPr/>
          <p:nvPr/>
        </p:nvSpPr>
        <p:spPr>
          <a:xfrm>
            <a:off x="914400" y="3383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แผนการสอน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2331720"/>
            <a:ext cx="1097280" cy="36576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2F0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v2 · ตามหัวข้อ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 30105  วิทยาศาสตร์พื้นฐาน 5 (โลกและอวกาศ) · ม.6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06040" y="315468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พาแรลแลกซ์และระยะของดาวฤกษ์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606040" y="4069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หน่วยดาราศาสตร์ · แผน 3 / 8 · คาบที่ 5–6 · 100 นาที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4983480"/>
            <a:ext cx="1362456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98348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⏱  100 นาที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86584" y="4983480"/>
            <a:ext cx="1362456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86584" y="4983480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🎯  5E + POE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58768" y="4983480"/>
            <a:ext cx="1837944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58768" y="4983480"/>
            <a:ext cx="1837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📝  Four-tier F3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06440" y="498348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4983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🧠  วPA 8 ตัวชี้วัด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10728" y="4983480"/>
            <a:ext cx="3145536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0728" y="498348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⚠️  Misconception M3.1–M3.3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4400" y="5943600"/>
            <a:ext cx="103327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61264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ครูผู้สอน  นายโกเมน ปาปะโถ  ·  โรงเรียนสตรีวิทยา  ·  ภาคเรียนที่ 1 ปีการศึกษา 2569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 · KEY CONCEPTS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สาระสำคัญของแผน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259072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51560"/>
            <a:ext cx="73152" cy="224028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216152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📐  พาแรลแลกซ์ (Parallax)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1764792"/>
            <a:ext cx="2362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การเปลี่ยนตำแหน่งปรากฏของวัตถุเมื่อสังเกตจากตำแหน่งต่างกัน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2651760"/>
            <a:ext cx="2298116" cy="457200"/>
          </a:xfrm>
          <a:prstGeom prst="rect">
            <a:avLst/>
          </a:prstGeom>
          <a:solidFill>
            <a:srgbClr val="F1F4FA"/>
          </a:solidFill>
          <a:ln w="9525">
            <a:solidFill>
              <a:srgbClr val="3B5B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651760"/>
            <a:ext cx="229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 (parsec) = 1 / p (arcsec)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67964" y="1051560"/>
            <a:ext cx="259072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67964" y="1051560"/>
            <a:ext cx="73152" cy="2240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3532556" y="1216152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📏  หน่วยระยะดาราศาสตร์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32556" y="1764792"/>
            <a:ext cx="2362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ใช้ตามสเกล: ระบบสุริยะ → AU · ดาวฤกษ์ใกล้ → ปีแสง/parsec · กาแล็กซี → kpc/Mpc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32556" y="2651760"/>
            <a:ext cx="2298116" cy="457200"/>
          </a:xfrm>
          <a:prstGeom prst="rect">
            <a:avLst/>
          </a:prstGeom>
          <a:solidFill>
            <a:srgbClr val="F1F4FA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32556" y="2651760"/>
            <a:ext cx="229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 pc = 3.26 ปีแสง = 206,265 AU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33008" y="1051560"/>
            <a:ext cx="259072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3008" y="1051560"/>
            <a:ext cx="73152" cy="2240280"/>
          </a:xfrm>
          <a:prstGeom prst="rect">
            <a:avLst/>
          </a:prstGeom>
          <a:solidFill>
            <a:srgbClr val="5E35B1"/>
          </a:solidFill>
          <a:ln/>
        </p:spPr>
      </p:sp>
      <p:sp>
        <p:nvSpPr>
          <p:cNvPr id="21" name="Text 19"/>
          <p:cNvSpPr/>
          <p:nvPr/>
        </p:nvSpPr>
        <p:spPr>
          <a:xfrm>
            <a:off x="6397600" y="1216152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⏳  Lookback Time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97600" y="1764792"/>
            <a:ext cx="2362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ดาวห่าง N ปีแสง = เห็นภาพจากเมื่อ N ปีก่อน · บางดวงอาจตายไปแล้ว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97600" y="2651760"/>
            <a:ext cx="2298116" cy="457200"/>
          </a:xfrm>
          <a:prstGeom prst="rect">
            <a:avLst/>
          </a:prstGeom>
          <a:solidFill>
            <a:srgbClr val="F1F4FA"/>
          </a:solidFill>
          <a:ln w="9525">
            <a:solidFill>
              <a:srgbClr val="5E35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7600" y="2651760"/>
            <a:ext cx="229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 = d / 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98051" y="1051560"/>
            <a:ext cx="2590724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98051" y="1051560"/>
            <a:ext cx="73152" cy="224028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27" name="Text 25"/>
          <p:cNvSpPr/>
          <p:nvPr/>
        </p:nvSpPr>
        <p:spPr>
          <a:xfrm>
            <a:off x="9262643" y="1216152"/>
            <a:ext cx="236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⭐  ระบบ Magnitude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62643" y="1764792"/>
            <a:ext cx="23621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ปรากฏ (m) · สัมบูรณ์ (M) · ตัวเลขน้อย = สว่างมาก · ต่าง 5 = 100 เท่า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262643" y="2651760"/>
            <a:ext cx="2298116" cy="457200"/>
          </a:xfrm>
          <a:prstGeom prst="rect">
            <a:avLst/>
          </a:prstGeom>
          <a:solidFill>
            <a:srgbClr val="F1F4FA"/>
          </a:solidFill>
          <a:ln w="9525">
            <a:solidFill>
              <a:srgbClr val="EF6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62643" y="2651760"/>
            <a:ext cx="2298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 − M = 5 log (d / 10 pc)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520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809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สเกลความสว่าง (Apparent Magnitude)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840480"/>
            <a:ext cx="1597979" cy="868680"/>
          </a:xfrm>
          <a:prstGeom prst="rect">
            <a:avLst/>
          </a:prstGeom>
          <a:solidFill>
            <a:srgbClr val="FBBF2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88620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−26.7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02920" y="429768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ดวงอาทิตย์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100899" y="3840480"/>
            <a:ext cx="1597979" cy="868680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00899" y="388620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−12.6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100899" y="429768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ดวงจันทร์เต็มดวง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98879" y="3840480"/>
            <a:ext cx="1597979" cy="868680"/>
          </a:xfrm>
          <a:prstGeom prst="rect">
            <a:avLst/>
          </a:prstGeom>
          <a:solidFill>
            <a:srgbClr val="D9770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98879" y="388620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−4.6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698879" y="429768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ดาวศุกร์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296858" y="3840480"/>
            <a:ext cx="1597979" cy="868680"/>
          </a:xfrm>
          <a:prstGeom prst="rect">
            <a:avLst/>
          </a:prstGeom>
          <a:solidFill>
            <a:srgbClr val="B4530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96858" y="388620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−1.5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96858" y="429768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ซิริอุส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94837" y="3840480"/>
            <a:ext cx="1597979" cy="868680"/>
          </a:xfrm>
          <a:prstGeom prst="rect">
            <a:avLst/>
          </a:prstGeom>
          <a:solidFill>
            <a:srgbClr val="78350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4837" y="388620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+1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94837" y="429768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ดาวสว่างทั่วไป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492817" y="3840480"/>
            <a:ext cx="1597979" cy="868680"/>
          </a:xfrm>
          <a:prstGeom prst="rect">
            <a:avLst/>
          </a:prstGeom>
          <a:solidFill>
            <a:srgbClr val="451A0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92817" y="388620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+6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92817" y="429768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ขีดตาเปล่า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090796" y="3840480"/>
            <a:ext cx="1597979" cy="868680"/>
          </a:xfrm>
          <a:prstGeom prst="rect">
            <a:avLst/>
          </a:prstGeom>
          <a:solidFill>
            <a:srgbClr val="1C191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90796" y="388620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+30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090796" y="4297680"/>
            <a:ext cx="15979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JWST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02920" y="4892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809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บันไดวัดระยะ (Distance Ladder)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02920" y="5212080"/>
            <a:ext cx="11185855" cy="31089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5212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📡 Radar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2514600" y="521208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วัตถุในระบบสุริยะ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265615" y="5212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&lt; 10 AU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02920" y="5541264"/>
            <a:ext cx="11185855" cy="31089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9" name="Text 57"/>
          <p:cNvSpPr/>
          <p:nvPr/>
        </p:nvSpPr>
        <p:spPr>
          <a:xfrm>
            <a:off x="594360" y="554126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📐 Parallax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514600" y="554126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ดาวฤกษ์ใกล้ (Hipparcos / Gaia)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265615" y="55412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≤ 1 kpc / ≤ 10 kpc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02920" y="5870448"/>
            <a:ext cx="11185855" cy="310896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3" name="Text 61"/>
          <p:cNvSpPr/>
          <p:nvPr/>
        </p:nvSpPr>
        <p:spPr>
          <a:xfrm>
            <a:off x="594360" y="58704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🔆 Cepheid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514600" y="587044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Period–Luminosity (Leavitt)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265615" y="587044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 kpc – 30 Mpc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02920" y="6199632"/>
            <a:ext cx="11185855" cy="310896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67" name="Text 65"/>
          <p:cNvSpPr/>
          <p:nvPr/>
        </p:nvSpPr>
        <p:spPr>
          <a:xfrm>
            <a:off x="594360" y="61996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💥 Type Ia SN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514600" y="619963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Standard Candle (Perlmutter/Riess)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9265615" y="61996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&gt; 30 Mpc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71" name="Text 69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 · MISCONCEPTIONS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Misconception เป้าหมาย 3 ตัวในแผน 3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11185855" cy="1508760"/>
          </a:xfrm>
          <a:prstGeom prst="rect">
            <a:avLst/>
          </a:prstGeom>
          <a:solidFill>
            <a:srgbClr val="FFF5F5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97280"/>
            <a:ext cx="73152" cy="15087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32588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C5303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258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M3.1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12984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❌  เข้าใจผิดว่า: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155448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ตัวเลข magnitude ยิ่งมาก แสดงว่าดาวยิ่งสว่าง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83080" y="1993392"/>
            <a:ext cx="9722815" cy="0"/>
          </a:xfrm>
          <a:prstGeom prst="line">
            <a:avLst/>
          </a:prstGeom>
          <a:noFill/>
          <a:ln w="6350">
            <a:solidFill>
              <a:srgbClr val="FCA5A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78308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✅  แนวคิดที่ถูกต้อง: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2258568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5F4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กลับกัน · m = 1 สว่างกว่า m = 6 ถึง 100 เท่า (ระบบ logarithmic ที่ Hipparchus กำหนดไว้กลับด้านโดยประวัติศาสตร์)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11185855" cy="1508760"/>
          </a:xfrm>
          <a:prstGeom prst="rect">
            <a:avLst/>
          </a:prstGeom>
          <a:solidFill>
            <a:srgbClr val="FFF5F5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788920"/>
            <a:ext cx="73152" cy="15087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01752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C5303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175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M3.2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83080" y="29900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❌  เข้าใจผิดว่า: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83080" y="324612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พาแรลแลกซ์ใช้วัดระยะดาวได้ทุกดวงในเอกภพ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783080" y="3685032"/>
            <a:ext cx="9722815" cy="0"/>
          </a:xfrm>
          <a:prstGeom prst="line">
            <a:avLst/>
          </a:prstGeom>
          <a:noFill/>
          <a:ln w="6350">
            <a:solidFill>
              <a:srgbClr val="FCA5A5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178308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✅  แนวคิดที่ถูกต้อง: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83080" y="3950208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5F4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ใช้ได้เฉพาะดาวใกล้ · ดาวไกล p เล็กเกินวัด → ต้องใช้บันไดวัดระยะอื่น (Cepheid · Type Ia SN)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4480560"/>
            <a:ext cx="11185855" cy="1508760"/>
          </a:xfrm>
          <a:prstGeom prst="rect">
            <a:avLst/>
          </a:prstGeom>
          <a:solidFill>
            <a:srgbClr val="FFF5F5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480560"/>
            <a:ext cx="73152" cy="150876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70916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C5303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7091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M3.3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83080" y="46817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❌  เข้าใจผิดว่า: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83080" y="4937760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ดาวที่เราเห็นบนท้องฟ้าเป็นภาพปัจจุบัน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783080" y="5376672"/>
            <a:ext cx="9722815" cy="0"/>
          </a:xfrm>
          <a:prstGeom prst="line">
            <a:avLst/>
          </a:prstGeom>
          <a:noFill/>
          <a:ln w="6350">
            <a:solidFill>
              <a:srgbClr val="FCA5A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783080" y="5413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✅  แนวคิดที่ถูกต้อง: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83080" y="5641848"/>
            <a:ext cx="9722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65F4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เป็นภาพอดีต · ดาวห่าง 1,000 ปีแสง = ภาพจาก 1,000 ปีก่อน · บางดวงอาจตายไปแล้วระหว่างที่แสงเดินทาง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 · LEARNING 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จุดประสงค์การเรียนรู้ (KPA)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545738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097280"/>
            <a:ext cx="73152" cy="4937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1261872"/>
            <a:ext cx="3216554" cy="45720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261872"/>
            <a:ext cx="321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🧠  ด้านความรู้ (K)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" y="187452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240280"/>
            <a:ext cx="32165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อธิบายหลักการพาแรลแลกซ์และคำนวณระยะดาวจากสูตร d = 1/p ได้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7512" y="315468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154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3520440"/>
            <a:ext cx="32165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อธิบายความสัมพันธ์ AU · ปีแสง · parsec และแปลงหน่วยข้ามไปมาได้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" y="443484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4434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" y="4800600"/>
            <a:ext cx="32165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อธิบายระบบ Apparent / Absolute Magnitude และเชื่อมโยงกับ Lookback 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2978" y="1097280"/>
            <a:ext cx="3545738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22978" y="1097280"/>
            <a:ext cx="73152" cy="4937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2" name="Shape 20"/>
          <p:cNvSpPr/>
          <p:nvPr/>
        </p:nvSpPr>
        <p:spPr>
          <a:xfrm>
            <a:off x="4487570" y="1261872"/>
            <a:ext cx="3216554" cy="457200"/>
          </a:xfrm>
          <a:prstGeom prst="rect">
            <a:avLst/>
          </a:prstGeom>
          <a:solidFill>
            <a:srgbClr val="C6F6D5"/>
          </a:solidFill>
          <a:ln/>
        </p:spPr>
      </p:sp>
      <p:sp>
        <p:nvSpPr>
          <p:cNvPr id="23" name="Text 21"/>
          <p:cNvSpPr/>
          <p:nvPr/>
        </p:nvSpPr>
        <p:spPr>
          <a:xfrm>
            <a:off x="4487570" y="1261872"/>
            <a:ext cx="321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45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🔬  ด้านทักษะกระบวนการ (P)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487570" y="187452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1C4532"/>
          </a:solidFill>
          <a:ln/>
        </p:spPr>
      </p:sp>
      <p:sp>
        <p:nvSpPr>
          <p:cNvPr id="25" name="Text 23"/>
          <p:cNvSpPr/>
          <p:nvPr/>
        </p:nvSpPr>
        <p:spPr>
          <a:xfrm>
            <a:off x="4487570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7570" y="2240280"/>
            <a:ext cx="32165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ทำการทดลองพาแรลแลกซ์ด้วยอุปกรณ์ง่าย วัดมุม และเปรียบเทียบกับค่าจริง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87570" y="315468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1C4532"/>
          </a:solidFill>
          <a:ln/>
        </p:spPr>
      </p:sp>
      <p:sp>
        <p:nvSpPr>
          <p:cNvPr id="28" name="Text 26"/>
          <p:cNvSpPr/>
          <p:nvPr/>
        </p:nvSpPr>
        <p:spPr>
          <a:xfrm>
            <a:off x="4487570" y="3154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7570" y="3520440"/>
            <a:ext cx="32165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 Simulation ปรับค่าระยะ ↔ มุมพาแรลแลกซ์ และสร้างแบบจำลอง P↔O↔E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43037" y="1097280"/>
            <a:ext cx="3545738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43037" y="1097280"/>
            <a:ext cx="73152" cy="4937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2" name="Shape 30"/>
          <p:cNvSpPr/>
          <p:nvPr/>
        </p:nvSpPr>
        <p:spPr>
          <a:xfrm>
            <a:off x="8307629" y="1261872"/>
            <a:ext cx="3216554" cy="457200"/>
          </a:xfrm>
          <a:prstGeom prst="rect">
            <a:avLst/>
          </a:prstGeom>
          <a:solidFill>
            <a:srgbClr val="FEEBC8"/>
          </a:solidFill>
          <a:ln/>
        </p:spPr>
      </p:sp>
      <p:sp>
        <p:nvSpPr>
          <p:cNvPr id="33" name="Text 31"/>
          <p:cNvSpPr/>
          <p:nvPr/>
        </p:nvSpPr>
        <p:spPr>
          <a:xfrm>
            <a:off x="8307629" y="1261872"/>
            <a:ext cx="32165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52B1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❤️  ด้านเจตคติ (A)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07629" y="187452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652B19"/>
          </a:solidFill>
          <a:ln/>
        </p:spPr>
      </p:sp>
      <p:sp>
        <p:nvSpPr>
          <p:cNvPr id="35" name="Text 33"/>
          <p:cNvSpPr/>
          <p:nvPr/>
        </p:nvSpPr>
        <p:spPr>
          <a:xfrm>
            <a:off x="8307629" y="18745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07629" y="2240280"/>
            <a:ext cx="32165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แสดงความใฝ่รู้ ตั้งคำถามเชิงลึกเกี่ยวกับสเกลของเอกภพ ≥ 1 ข้อ/คน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307629" y="315468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652B19"/>
          </a:solidFill>
          <a:ln/>
        </p:spPr>
      </p:sp>
      <p:sp>
        <p:nvSpPr>
          <p:cNvPr id="38" name="Text 36"/>
          <p:cNvSpPr/>
          <p:nvPr/>
        </p:nvSpPr>
        <p:spPr>
          <a:xfrm>
            <a:off x="8307629" y="3154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07629" y="3520440"/>
            <a:ext cx="32165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กำกับการเรียนรู้ของตนเอง สะท้อนจุดที่เข้าใจ/ยังไม่เข้าใจใน MJ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04 · LESSON TIMELINE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Timeline กิจกรรม 100 นาที (5E + POE · 9 ขั้น)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28996" cy="914400"/>
          </a:xfrm>
          <a:prstGeom prst="rect">
            <a:avLst/>
          </a:prstGeom>
          <a:solidFill>
            <a:srgbClr val="7E57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1916" y="1280160"/>
            <a:ext cx="219330" cy="914400"/>
          </a:xfrm>
          <a:prstGeom prst="rect">
            <a:avLst/>
          </a:prstGeom>
          <a:solidFill>
            <a:srgbClr val="0EA5E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246" y="1280160"/>
            <a:ext cx="219330" cy="914400"/>
          </a:xfrm>
          <a:prstGeom prst="rect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70577" y="1280160"/>
            <a:ext cx="877322" cy="914400"/>
          </a:xfrm>
          <a:prstGeom prst="rect">
            <a:avLst/>
          </a:prstGeom>
          <a:solidFill>
            <a:srgbClr val="1E88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0577" y="1325880"/>
            <a:ext cx="8773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F3 Pre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70577" y="1645920"/>
            <a:ext cx="8773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5–13'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7899" y="1280160"/>
            <a:ext cx="1644979" cy="914400"/>
          </a:xfrm>
          <a:prstGeom prst="rect">
            <a:avLst/>
          </a:prstGeom>
          <a:solidFill>
            <a:srgbClr val="2E7D3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7899" y="1325880"/>
            <a:ext cx="16449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7899" y="1645920"/>
            <a:ext cx="16449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13–28'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47899" y="1874520"/>
            <a:ext cx="1644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Engage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92877" y="1280160"/>
            <a:ext cx="3289957" cy="914400"/>
          </a:xfrm>
          <a:prstGeom prst="rect">
            <a:avLst/>
          </a:prstGeom>
          <a:solidFill>
            <a:srgbClr val="EF6C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2877" y="1325880"/>
            <a:ext cx="32899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92877" y="1645920"/>
            <a:ext cx="328995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28–58'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92877" y="1874520"/>
            <a:ext cx="32899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Explore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82835" y="1280160"/>
            <a:ext cx="2193305" cy="914400"/>
          </a:xfrm>
          <a:prstGeom prst="rect">
            <a:avLst/>
          </a:prstGeom>
          <a:solidFill>
            <a:srgbClr val="C6282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82835" y="1325880"/>
            <a:ext cx="219330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2835" y="1645920"/>
            <a:ext cx="21933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58–78'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82835" y="1874520"/>
            <a:ext cx="21933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Explain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276140" y="1280160"/>
            <a:ext cx="1644979" cy="914400"/>
          </a:xfrm>
          <a:prstGeom prst="rect">
            <a:avLst/>
          </a:prstGeom>
          <a:solidFill>
            <a:srgbClr val="8D6E6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6140" y="1325880"/>
            <a:ext cx="16449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76140" y="1645920"/>
            <a:ext cx="16449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78–93'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76140" y="1874520"/>
            <a:ext cx="1644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Elaborate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921118" y="1280160"/>
            <a:ext cx="219330" cy="914400"/>
          </a:xfrm>
          <a:prstGeom prst="rect">
            <a:avLst/>
          </a:prstGeom>
          <a:solidFill>
            <a:srgbClr val="7E57C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40449" y="1280160"/>
            <a:ext cx="328996" cy="914400"/>
          </a:xfrm>
          <a:prstGeom prst="rect">
            <a:avLst/>
          </a:prstGeom>
          <a:solidFill>
            <a:srgbClr val="1E88E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469445" y="1280160"/>
            <a:ext cx="219330" cy="914400"/>
          </a:xfrm>
          <a:prstGeom prst="rect">
            <a:avLst/>
          </a:prstGeom>
          <a:solidFill>
            <a:srgbClr val="4E342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2606040"/>
            <a:ext cx="2625014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2606040"/>
            <a:ext cx="73152" cy="1714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2770632"/>
            <a:ext cx="2350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ACT · ทบทวนความรู้เดิม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" y="3227832"/>
            <a:ext cx="23506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Quick Quiz 3 ข้อ + Prior Knowledge box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56534" y="2606040"/>
            <a:ext cx="2625014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56534" y="2606040"/>
            <a:ext cx="73152" cy="1714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8" name="Text 36"/>
          <p:cNvSpPr/>
          <p:nvPr/>
        </p:nvSpPr>
        <p:spPr>
          <a:xfrm>
            <a:off x="3539414" y="2770632"/>
            <a:ext cx="2350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GOAL · เป้าหมาย 3 ระดับ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539414" y="3227832"/>
            <a:ext cx="23506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ง่าย  🟡 กลาง  🔴 ท้าทาย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0148" y="2606040"/>
            <a:ext cx="2625014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10148" y="2606040"/>
            <a:ext cx="73152" cy="1714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42" name="Text 40"/>
          <p:cNvSpPr/>
          <p:nvPr/>
        </p:nvSpPr>
        <p:spPr>
          <a:xfrm>
            <a:off x="6393028" y="2770632"/>
            <a:ext cx="2350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F3 · Four-tier (Pre/Post)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93028" y="3227832"/>
            <a:ext cx="23506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T1 คำตอบ · T2 มั่นใจ · T3 เหตุผล · T4 มั่นใจ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063761" y="2606040"/>
            <a:ext cx="2625014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063761" y="2606040"/>
            <a:ext cx="73152" cy="1714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6" name="Text 44"/>
          <p:cNvSpPr/>
          <p:nvPr/>
        </p:nvSpPr>
        <p:spPr>
          <a:xfrm>
            <a:off x="9246641" y="2770632"/>
            <a:ext cx="2350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E1 · Engage (POE-P)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246641" y="3227832"/>
            <a:ext cx="23506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Video Hook + Concept Cartoon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4549140"/>
            <a:ext cx="2625014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02920" y="4549140"/>
            <a:ext cx="73152" cy="171450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4713732"/>
            <a:ext cx="2350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E2 · Explore (POE-O)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85800" y="5170932"/>
            <a:ext cx="23506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ฐาน: Thumb · Lab · Sim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356534" y="4549140"/>
            <a:ext cx="2625014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356534" y="4549140"/>
            <a:ext cx="73152" cy="17145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54" name="Text 52"/>
          <p:cNvSpPr/>
          <p:nvPr/>
        </p:nvSpPr>
        <p:spPr>
          <a:xfrm>
            <a:off x="3539414" y="4713732"/>
            <a:ext cx="2350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E3 · Explain (POE-E)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539414" y="5170932"/>
            <a:ext cx="23506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CER Board + สรุปสูตร d=1/p + Magnitude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10148" y="4549140"/>
            <a:ext cx="2625014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210148" y="4549140"/>
            <a:ext cx="73152" cy="1714500"/>
          </a:xfrm>
          <a:prstGeom prst="rect">
            <a:avLst/>
          </a:prstGeom>
          <a:solidFill>
            <a:srgbClr val="8D6E63"/>
          </a:solidFill>
          <a:ln/>
        </p:spPr>
      </p:sp>
      <p:sp>
        <p:nvSpPr>
          <p:cNvPr id="58" name="Text 56"/>
          <p:cNvSpPr/>
          <p:nvPr/>
        </p:nvSpPr>
        <p:spPr>
          <a:xfrm>
            <a:off x="6393028" y="4713732"/>
            <a:ext cx="2350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E4 · Elaborate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393028" y="5170932"/>
            <a:ext cx="23506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Calc + Spot the Error + Cepheid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063761" y="4549140"/>
            <a:ext cx="2625014" cy="17145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063761" y="4549140"/>
            <a:ext cx="73152" cy="171450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62" name="Text 60"/>
          <p:cNvSpPr/>
          <p:nvPr/>
        </p:nvSpPr>
        <p:spPr>
          <a:xfrm>
            <a:off x="9246641" y="4713732"/>
            <a:ext cx="2350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MJ · 3-2-1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246641" y="5170932"/>
            <a:ext cx="235069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เข้าใจ · 2 น่าสนใจ · 1 คำถาม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2920" y="6291072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รวม 100 นาที · กลุ่ม 4 คน · เป้าหมาย: Sound ≥ 80% · Misconception ลด ≥ 20% · POE ≥ 2.0 · บัตรเขียว ≥ 60% · Calc ≥ 70%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 · กิจกรรมที่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ขั้นเตรียม · TLC + ACT + GOAL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solidFill>
            <a:srgbClr val="7E57C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⏱  0–5 นาที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1463040" cy="100584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916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🚦  TLC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ก่อนเรียน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1691640"/>
            <a:ext cx="9722815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783080"/>
            <a:ext cx="9494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นักเรียนยกบัตร 🟢🟡🔴 ประเมินความรู้เดิมเรื่อง “ระยะดาว · หน่วยปีแสง · ความสว่างดาว”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ตั้งคำถามเชื่อม: “ดาวที่เห็นอยู่ห่างเท่าใด · เรารู้ได้อย่างไร?”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807208"/>
            <a:ext cx="1463040" cy="137160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07208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🧠  ACT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ทบทวนความรู้เดิม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2807208"/>
            <a:ext cx="9722815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898648"/>
            <a:ext cx="9494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เรียกคืน — แผน 1: สเกลเอกภพ · แผน 2: โครงสร้างกาแล็กซี · ม.4: ตรีโกณ tan θ · ม.ต้น: c = 3 × 10⁸ m/s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Quick Quiz 3 ข้อ — (1) 1 ปีแสงคืออะไร  (2) กาแล็กซีของเราชื่อ  (3) แสงจากดวงอาทิตย์ถึงโลกใช้เวลาเท่าใด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วPA 2 ★ · ความเชื่อมโยงความรู้เดิม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288536"/>
            <a:ext cx="1463040" cy="137160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88536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🎯  GOAL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เป้าหมายวันนี้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65960" y="4288536"/>
            <a:ext cx="9722815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4379976"/>
            <a:ext cx="9494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🟢 ง่าย — อธิบายว่าพาแรลแลกซ์คืออะไรได้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กลาง — คำนวณระยะดาวจาก d = 1/p และแปลงหน่วยได้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🔴 ท้าทาย — อธิบายระบบ Magnitude + Lookback Time + ขีดจำกัดของพาแรลแลกซ์ได้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 · กิจกรรมที่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Formative Pre-test · Four-tier F3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⏱  5–13 นาที (8 นาที)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1463040" cy="64008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91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📝  เครื่องมือ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1691640"/>
            <a:ext cx="972281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783080"/>
            <a:ext cx="9494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Four-tier 3 ข้อ — T1 คำตอบ · T2 ระดับมั่นใจ · T3 เหตุผล · T4 ระดับมั่นใจ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1463040" cy="64008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4414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🧠  ครอบคลุม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2441448"/>
            <a:ext cx="972281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2578608"/>
            <a:ext cx="1874520" cy="292608"/>
          </a:xfrm>
          <a:prstGeom prst="roundRect">
            <a:avLst>
              <a:gd name="adj" fmla="val 15625"/>
            </a:avLst>
          </a:prstGeom>
          <a:solidFill>
            <a:srgbClr val="BEE3F8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5786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K1 · พาแรลแลกซ์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069080" y="2578608"/>
            <a:ext cx="1764792" cy="292608"/>
          </a:xfrm>
          <a:prstGeom prst="roundRect">
            <a:avLst>
              <a:gd name="adj" fmla="val 15625"/>
            </a:avLst>
          </a:prstGeom>
          <a:solidFill>
            <a:srgbClr val="BEE3F8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2578608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K2 · หน่วยระยะ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25312" y="2578608"/>
            <a:ext cx="1764792" cy="292608"/>
          </a:xfrm>
          <a:prstGeom prst="roundRect">
            <a:avLst>
              <a:gd name="adj" fmla="val 15625"/>
            </a:avLst>
          </a:prstGeom>
          <a:solidFill>
            <a:srgbClr val="BEE3F8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25312" y="2578608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K3 · Magnitude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81544" y="2578608"/>
            <a:ext cx="667512" cy="292608"/>
          </a:xfrm>
          <a:prstGeom prst="roundRect">
            <a:avLst>
              <a:gd name="adj" fmla="val 15625"/>
            </a:avLst>
          </a:prstGeom>
          <a:solidFill>
            <a:srgbClr val="FED7D7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81544" y="2578608"/>
            <a:ext cx="667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2A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M3.1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40496" y="2578608"/>
            <a:ext cx="667512" cy="292608"/>
          </a:xfrm>
          <a:prstGeom prst="roundRect">
            <a:avLst>
              <a:gd name="adj" fmla="val 15625"/>
            </a:avLst>
          </a:prstGeom>
          <a:solidFill>
            <a:srgbClr val="FED7D7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0496" y="2578608"/>
            <a:ext cx="667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2A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M3.2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299448" y="2578608"/>
            <a:ext cx="667512" cy="292608"/>
          </a:xfrm>
          <a:prstGeom prst="roundRect">
            <a:avLst>
              <a:gd name="adj" fmla="val 15625"/>
            </a:avLst>
          </a:prstGeom>
          <a:solidFill>
            <a:srgbClr val="FED7D7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9448" y="2578608"/>
            <a:ext cx="667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2A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M3.3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3191256"/>
            <a:ext cx="1463040" cy="91440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191256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👩‍🏫  กิจกรรมครู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965960" y="3191256"/>
            <a:ext cx="972281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3282696"/>
            <a:ext cx="9494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ชี้แจงวิธีตอบ Four-tier · ย้ำว่ายังไม่เฉลย — เก็บ baseline เท่านั้น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เก็บข้อมูล % Sound / Misconception ก่อนเรียน → ใช้ปรับจังหวะ Explore + Explain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Sync ผ่าน WebApp F3-Pre · บันทึก Apps Script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215384"/>
            <a:ext cx="1463040" cy="91440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215384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👨‍🎓  กิจกรรมนักเรียน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965960" y="4215384"/>
            <a:ext cx="972281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03120" y="4306824"/>
            <a:ext cx="9494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 Four-tier 3 ข้อ บน iPad / มือถือ (Web)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ตอบครบทั้ง 4 tier ทุกข้อ — มั่นใจระดับ 1–4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Submit เพื่อ matched-pair กับ F3 Post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239512"/>
            <a:ext cx="1463040" cy="54864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23951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📏  เกณฑ์ผ่าน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965960" y="5239512"/>
            <a:ext cx="972281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03120" y="5330952"/>
            <a:ext cx="9494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 baseline เพื่อเปรียบเทียบกับ F3 Post · เป้าหมาย: Sound ≥ 80% · Misconception ลด ≥ 20%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 · กิจกรรมที่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E1 · Engage — Video Hook + Concept Cartoon  (POE-P)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⏱  13–28 นาที (15 นาที)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1463040" cy="91440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916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🎥  Video Hook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1691640"/>
            <a:ext cx="972281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783080"/>
            <a:ext cx="9494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คลิป 90 วินาที “ดาวที่เห็นยังมีอยู่จริงไหม?”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ภาพ Time-lapse แสงจากดาวห่าง 1,000 ปีแสง → โยงสู่ Lookback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ปิดด้วยคำถามชวนคิด: “ภาพดาวที่เห็น = ปัจจุบัน หรือ อดีต?”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715768"/>
            <a:ext cx="1463040" cy="91440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15768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🎴  Concept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Cartoon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2715768"/>
            <a:ext cx="972281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807208"/>
            <a:ext cx="9494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นักเรียน 3 คนถกเถียงว่า ดาว m = 1 หรือ m = 6 สว่างกว่ากัน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นักเรียนเลือก 1 ความเห็นที่เห็นด้วย พร้อมเหตุผล (ชน M3.1)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Think–Pair–Share — เดี่ยว 2' → คู่ 3' → กลุ่ม 4' → แชร์ชั้น 3'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39896"/>
            <a:ext cx="1463040" cy="91440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739896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✍️  POE-P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(Predict)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65960" y="3739896"/>
            <a:ext cx="972281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831336"/>
            <a:ext cx="9494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เขียน Predict ใน ใบ POE-03: “นิ้วโป้งของเรา ถ้าเปิด-ปิดตา จะเลื่อนตำแหน่งบนฉากหลังหรือไม่ · ทำไม?”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ระบุเหตุผลที่ใช้ทำนาย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เป้าหมาย: P1 ทุกคนต้องเขียน Predict + เหตุผล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764024"/>
            <a:ext cx="1463040" cy="59436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764024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🎯  เป้าหมาย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65960" y="4764024"/>
            <a:ext cx="972281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03120" y="4901184"/>
            <a:ext cx="448056" cy="292608"/>
          </a:xfrm>
          <a:prstGeom prst="roundRect">
            <a:avLst>
              <a:gd name="adj" fmla="val 15625"/>
            </a:avLst>
          </a:prstGeom>
          <a:solidFill>
            <a:srgbClr val="C6F6D5"/>
          </a:solidFill>
          <a:ln w="6350">
            <a:solidFill>
              <a:srgbClr val="2767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4901184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53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42616" y="4901184"/>
            <a:ext cx="448056" cy="292608"/>
          </a:xfrm>
          <a:prstGeom prst="roundRect">
            <a:avLst>
              <a:gd name="adj" fmla="val 15625"/>
            </a:avLst>
          </a:prstGeom>
          <a:solidFill>
            <a:srgbClr val="FEEBC8"/>
          </a:solidFill>
          <a:ln w="6350">
            <a:solidFill>
              <a:srgbClr val="C056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2616" y="4901184"/>
            <a:ext cx="448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52B1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82112" y="4901184"/>
            <a:ext cx="996696" cy="292608"/>
          </a:xfrm>
          <a:prstGeom prst="roundRect">
            <a:avLst>
              <a:gd name="adj" fmla="val 15625"/>
            </a:avLst>
          </a:prstGeom>
          <a:solidFill>
            <a:srgbClr val="FED7D7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2112" y="4901184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2A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ชน M3.1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70248" y="4901184"/>
            <a:ext cx="996696" cy="292608"/>
          </a:xfrm>
          <a:prstGeom prst="roundRect">
            <a:avLst>
              <a:gd name="adj" fmla="val 15625"/>
            </a:avLst>
          </a:prstGeom>
          <a:solidFill>
            <a:srgbClr val="FED7D7"/>
          </a:solidFill>
          <a:ln w="6350">
            <a:solidFill>
              <a:srgbClr val="C530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0248" y="4901184"/>
            <a:ext cx="996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42A2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ชน M3.3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58384" y="4901184"/>
            <a:ext cx="1435608" cy="292608"/>
          </a:xfrm>
          <a:prstGeom prst="roundRect">
            <a:avLst>
              <a:gd name="adj" fmla="val 15625"/>
            </a:avLst>
          </a:prstGeom>
          <a:solidFill>
            <a:srgbClr val="EBF8FF"/>
          </a:solidFill>
          <a:ln w="6350">
            <a:solidFill>
              <a:srgbClr val="2B6C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58384" y="490118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วPA 1, 2, 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 · กิจกรรมที่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E2 · Explore — สำรวจ 3 ฐาน  (POE-O)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⏱  28–58 นาที (30 นาที)  ·  กลุ่ม 4 คน หมุน 3 ฐาน ฐานละ 8' + สรุป 6'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354573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691640"/>
            <a:ext cx="73152" cy="416052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11" name="Shape 9"/>
          <p:cNvSpPr/>
          <p:nvPr/>
        </p:nvSpPr>
        <p:spPr>
          <a:xfrm>
            <a:off x="1864309" y="1920240"/>
            <a:ext cx="822960" cy="822960"/>
          </a:xfrm>
          <a:prstGeom prst="ellipse">
            <a:avLst/>
          </a:prstGeom>
          <a:solidFill>
            <a:srgbClr val="FFF5E6"/>
          </a:solidFill>
          <a:ln w="19050">
            <a:solidFill>
              <a:srgbClr val="EF6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64309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👍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ฐานที่ 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08960"/>
            <a:ext cx="3545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Thumb Parallax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3611880"/>
            <a:ext cx="2997098" cy="0"/>
          </a:xfrm>
          <a:prstGeom prst="line">
            <a:avLst/>
          </a:prstGeom>
          <a:noFill/>
          <a:ln w="1270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4904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📋 วิธีทำ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950208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ชูนิ้วโป้ง · เปิด-ปิดตาสลับข้าง · วัดมุมที่นิ้วเลื่อนเทียบฉากหลัง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279392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🎯 ภารกิจ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480560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เปลี่ยนระยะนิ้ว ใกล้/ไกล → สังเกตว่ามุมเปลี่ยนอย่างไร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809744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🧠 เป้าหมาย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5010912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ชน M3.2 — ดาวยิ่งไกล มุม p ยิ่งเล็ก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340096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🔧 อุปกรณ์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5541264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ไม่ใช้อุปกรณ์ (มือ + ฉากหลัง)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2978" y="1691640"/>
            <a:ext cx="354573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22978" y="1691640"/>
            <a:ext cx="73152" cy="416052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684368" y="1920240"/>
            <a:ext cx="822960" cy="822960"/>
          </a:xfrm>
          <a:prstGeom prst="ellipse">
            <a:avLst/>
          </a:prstGeom>
          <a:solidFill>
            <a:srgbClr val="FFF5E6"/>
          </a:solidFill>
          <a:ln w="19050">
            <a:solidFill>
              <a:srgbClr val="EF6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84368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🔭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322978" y="28346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ฐานที่ 02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22978" y="3108960"/>
            <a:ext cx="3545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Lab พาแรลแลกซ์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597298" y="3611880"/>
            <a:ext cx="2997098" cy="0"/>
          </a:xfrm>
          <a:prstGeom prst="line">
            <a:avLst/>
          </a:prstGeom>
          <a:noFill/>
          <a:ln w="12700">
            <a:solidFill>
              <a:srgbClr val="FED7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05858" y="374904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📋 วิธีทำ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05858" y="3950208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ตั้งดาวจำลอง (ลูกบอลโฟม) ที่ระยะ d ที่กำหนด · ขยับตำแหน่งสังเกต 2 ฝั่ง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05858" y="4279392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🎯 ภารกิจ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05858" y="4480560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วัดมุม p → คำนวณ d = 1/p → เปรียบเทียบกับค่าจริง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05858" y="4809744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🧠 เป้าหมาย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05858" y="5010912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K1 + K2 ผ่านการทดลอง · P1 Modeling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05858" y="5340096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🔧 อุปกรณ์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05858" y="5541264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ลูกบอลโฟม · ขาตั้ง · ฉากกระดาษพิมพ์ดาวพื้นหลัง · ไม้บรรทัด · ไม้โปรแทรกเตอร์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43037" y="1691640"/>
            <a:ext cx="354573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43037" y="1691640"/>
            <a:ext cx="73152" cy="4160520"/>
          </a:xfrm>
          <a:prstGeom prst="rect">
            <a:avLst/>
          </a:prstGeom>
          <a:solidFill>
            <a:srgbClr val="EF6C00"/>
          </a:solidFill>
          <a:ln/>
        </p:spPr>
      </p:sp>
      <p:sp>
        <p:nvSpPr>
          <p:cNvPr id="41" name="Shape 39"/>
          <p:cNvSpPr/>
          <p:nvPr/>
        </p:nvSpPr>
        <p:spPr>
          <a:xfrm>
            <a:off x="9504426" y="1920240"/>
            <a:ext cx="822960" cy="822960"/>
          </a:xfrm>
          <a:prstGeom prst="ellipse">
            <a:avLst/>
          </a:prstGeom>
          <a:solidFill>
            <a:srgbClr val="FFF5E6"/>
          </a:solidFill>
          <a:ln w="19050">
            <a:solidFill>
              <a:srgbClr val="EF6C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04426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8143037" y="28346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ฐานที่ 03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43037" y="3108960"/>
            <a:ext cx="3545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Simulation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8417357" y="3611880"/>
            <a:ext cx="2997098" cy="0"/>
          </a:xfrm>
          <a:prstGeom prst="line">
            <a:avLst/>
          </a:prstGeom>
          <a:noFill/>
          <a:ln w="12700">
            <a:solidFill>
              <a:srgbClr val="FED7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5917" y="3749040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📋 วิธีทำ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325917" y="3950208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Stellar Parallax Sim · เลื่อนระยะดาวจาก 1–1,000 pc → ระบบแสดงมุม p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325917" y="4279392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🎯 ภารกิจ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25917" y="4480560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ลองดาวห่าง 10,000 pc → เห็น p เล็กเกินขีดวัดของ Hipparcos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325917" y="4809744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🧠 เป้าหมาย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325917" y="5010912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ชน M3.2 — ขีดจำกัดของวิธีพาแรลแลกซ์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325917" y="5340096"/>
            <a:ext cx="3179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🔧 อุปกรณ์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325917" y="5541264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Sim HTML (slider d ↔ p · Hipparcos vs Gaia limit)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solidFill>
            <a:srgbClr val="FFF5E6"/>
          </a:solidFill>
          <a:ln w="9525">
            <a:solidFill>
              <a:srgbClr val="EF6C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59893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42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📋  POE-O (Observe)  ·  บันทึก: ตารางมุม p · ระยะคำนวณ · ขีดจำกัดของการวัด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 · กิจกรรมที่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E3 · Explain — สรุปสูตร d = 1/p · หน่วยระยะ · Magnitude  (POE-E)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⏱  58–78 นาที (20 นาที)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51206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691640"/>
            <a:ext cx="73152" cy="4572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2C2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🗒  CER Board (Paper)  ·  5 นาที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2331720"/>
            <a:ext cx="411480" cy="4114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350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 คอลัมน์บนกระดานผนัง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25880" y="2624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พาแรลแลกซ์ · ระยะ &amp; หน่วย · Magnitude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246120"/>
            <a:ext cx="411480" cy="4114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264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Post-it 3 สี (กลุ่มเขียน)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25880" y="35387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🟡 Claim · 🟢 Evidence (จากฐานไหน) · 🔵 Reasoning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160520"/>
            <a:ext cx="411480" cy="41148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178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ครูเดินอ่าน + จัดกลุ่ม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25880" y="4453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ชี้ conflict ระหว่างกลุ่ม → ให้กลุ่มที่คิดต่างอธิบาย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5486400"/>
            <a:ext cx="4663440" cy="59436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4864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✍️  POE-E · นักเรียนเขียน Explain เชื่อม P↔O ในใบ POE-03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1691640"/>
            <a:ext cx="5790895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F5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97880" y="1691640"/>
            <a:ext cx="73152" cy="45720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1874520"/>
            <a:ext cx="5516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2C2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📐  ครูสรุปเนื้อหา (Direct Instruction)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72200" y="2331720"/>
            <a:ext cx="5333695" cy="822960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404872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C2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สูตรพาแรลแลกซ์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2660904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d (pc) = 1 / p (arcsec) · ตัวอย่าง: p = 0.5″ → d = 2 pc · Proxima Centauri p = 0.77″ → d = 1.3 pc = 4.24 ly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3246120"/>
            <a:ext cx="5333695" cy="822960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319272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C2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หน่วยระยะ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3575304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AU ↔ ปีแสง ↔ parsec · แสดง bowtie diagram การแปลงหน่วย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4160520"/>
            <a:ext cx="5333695" cy="822960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233672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C2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 Magnitude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09360" y="4489704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 = 1 vs m = 6 · ต่าง 5 = 100 เท่า · m − M = 5 log(d/10) · 🎯 ชน M3.1 ตรง ๆ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72200" y="5074920"/>
            <a:ext cx="5333695" cy="822960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5148072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C2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Lookback Time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09360" y="5404104"/>
            <a:ext cx="5059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“ดาวที่เห็นคือภาพอดีต” · 🎯 ชน M3.3 ตรง ๆ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 · กิจกรรมที่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E4 · Elaborate — ขยายและประยุกต์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solidFill>
            <a:srgbClr val="8D6E6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⏱  78–93 นาที (15 นาที)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1463040" cy="128016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916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🧮  ใบงาน 3.1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Calc Parallax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1691640"/>
            <a:ext cx="9722815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783080"/>
            <a:ext cx="9494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คำนวณ d จาก p (5 ข้อ ไล่ระดับ)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แปลงหน่วย AU ↔ ปีแสง ↔ parsec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ใช้สูตร m − M = 5 log(d/10) คำนวณ Magnitude สัมบูรณ์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คำนวณเวลาที่แสงเดินทาง t = d/c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81528"/>
            <a:ext cx="1463040" cy="100584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081528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🔍  ใบงาน 3.2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Spot the Error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3081528"/>
            <a:ext cx="9722815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3172968"/>
            <a:ext cx="9494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หาข้อความที่ผิด 3 ข้อ — M3.1 (magnitude มาก = สว่างมาก?)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M3.2 (ใช้ได้กับดาวทุกดวง?) · M3.3 (ภาพปัจจุบัน?)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อธิบายเหตุผลว่าทำไมข้อความนั้นจึงผิด + แก้ไขให้ถูก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197096"/>
            <a:ext cx="1463040" cy="100584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197096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💻  Sim · Cepheid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Challenge 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65960" y="4197096"/>
            <a:ext cx="9722815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4288536"/>
            <a:ext cx="9494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เปิด Sim Cepheid Period–Luminosity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ดู Henrietta Leavitt's Law → ทำไมพาแรลแลกซ์อย่างเดียวไม่พอ?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วางฐานสู่ Hubble's Law v = H₀d (เชื่อมไปแผน 8)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312664"/>
            <a:ext cx="1463040" cy="50292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3126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✅  ปิดท้าย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65960" y="5312664"/>
            <a:ext cx="972281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3120" y="5404104"/>
            <a:ext cx="9494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เฉลยรวม + อภิปรายเชื่อม “บันไดวัดระยะ 4 ขั้น” เตรียมแผน 4 (วิวัฒนาการดาว)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05 · กิจกรรมที่ 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ขั้นปิด · TLC Post + F3 Post + Metacognitive Journal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005840"/>
            <a:ext cx="11185855" cy="457200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⏱  93–100 นาที (7 นาที)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1463040" cy="91440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916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🚦  TLC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หลังเรียน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65960" y="1691640"/>
            <a:ext cx="972281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783080"/>
            <a:ext cx="9494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นักเรียนยกบัตร 🟢🟡🔴 ครั้งที่ 2 — เปรียบเทียบความเข้าใจก่อน–หลัง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เป้าหมาย: บัตรเขียว ≥ 60%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ครูใช้ข้อมูลจัดกลุ่มช่วยเหลือในแผน 4 (วิวัฒนาการดาว)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715768"/>
            <a:ext cx="1463040" cy="91440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715768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📝  F3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Post-test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2715768"/>
            <a:ext cx="9722815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807208"/>
            <a:ext cx="9494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Four-tier 3 ข้อ ซ้ำเดียวกับ F3 Pre (matched-pair design)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คำนวณ % Sound (≥ 80%) และอัตราการลด Misconception (≥ 20%)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เข้าสู่ FT-Analytics — Hake gain · Sound/Misconception/Guessing/No-K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39896"/>
            <a:ext cx="1463040" cy="1280160"/>
          </a:xfrm>
          <a:prstGeom prst="rect">
            <a:avLst/>
          </a:prstGeom>
          <a:solidFill>
            <a:srgbClr val="DDE6F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739896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📓  MJ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3-2-1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965960" y="3739896"/>
            <a:ext cx="9722815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831336"/>
            <a:ext cx="9494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นักเรียนเขียน — 3 สิ่งที่เข้าใจ · 2 สิ่งที่น่าสนใจ · 1 คำถามที่ยังสงสัย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ครูใช้ 1 คำถามจาก MJ เป็น Hook ของแผน 4 (วิวัฒนาการดาว · ดาวยักษ์แดง)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Feed-forward สู่บทถัดไป — เชื่อม Magnitude สัมบูรณ์ → H-R diagram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เก็บข้อมูลเชิงคุณภาพประกอบ A2 (SRL)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06 · MATERIALS &amp; TOOLS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สื่อและแหล่งการเรียนรู้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21615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🎥  Video Hook “ดาวที่เห็นยังมีอยู่จริงไหม?” + Lookback Time (90 วินาที)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728" y="121615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6278728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35928" y="114300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🎴  Concept Cartoon “Magnitude สับสน” (ใบกิจกรรม 3.0)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171907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16459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👍  ฐาน Thumb Parallax (ไม่ใช้อุปกรณ์ — ใช้นิ้วโป้ง)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8728" y="171907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627872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35928" y="16459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🔭  ชุด Lab พาแรลแลกซ์ — ลูกบอลโฟม · ขาตั้ง · ฉากกระดาษ · ไม้บรรทัด · ไม้โปรแทรกเตอร์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22199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14884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💻  Sim · Stellar Parallax (slider d ↔ p · Hipparcos vs Gaia limit)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8728" y="222199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6278728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35928" y="214884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💻  Sim · Cepheid Period–Luminosity (E4 challenge)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272491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265176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📝  ใบบันทึก POE-03 (Predict / Observe / Explain)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78728" y="272491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6278728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35928" y="265176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🗒  CER Board (กระดานผนัง 3 คอลัมน์ + Post-it 3 สี · ~30 แผ่น/ห้อง)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322783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315468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🧮  ใบกิจกรรม 3.1 · Calc Parallax (5 ข้อ)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8728" y="322783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5" name="Text 33"/>
          <p:cNvSpPr/>
          <p:nvPr/>
        </p:nvSpPr>
        <p:spPr>
          <a:xfrm>
            <a:off x="6278728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35928" y="315468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🔍  ใบกิจกรรม 3.2 · Spot the Error (M3.1 + M3.2 + M3.3)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0120" y="365760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📝  Four-tier F3 Pre/Post (3 ข้อ) บน WebApp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78728" y="373075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1" name="Text 39"/>
          <p:cNvSpPr/>
          <p:nvPr/>
        </p:nvSpPr>
        <p:spPr>
          <a:xfrm>
            <a:off x="627872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35928" y="365760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🚦  Traffic Light Card TL-01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02920" y="423367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0120" y="41605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📓  Metacognitive Journal MJ-01 (3-2-1)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278728" y="4233672"/>
            <a:ext cx="365760" cy="3657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7" name="Text 45"/>
          <p:cNvSpPr/>
          <p:nvPr/>
        </p:nvSpPr>
        <p:spPr>
          <a:xfrm>
            <a:off x="6278728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35928" y="4160520"/>
            <a:ext cx="4907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👁  แบบสังเกตพฤติกรรม OB-01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07 ·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การวัดและประเมินผล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1280160" cy="50292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ด้าน / วัตถุประสงค์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83080" y="1143000"/>
            <a:ext cx="3749040" cy="50292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143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ตัวแปรที่วัด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532120" y="1143000"/>
            <a:ext cx="3566160" cy="50292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143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เครื่องมือ / กิจกรรม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98280" y="1143000"/>
            <a:ext cx="2590495" cy="502920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1143000"/>
            <a:ext cx="24076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เกณฑ์ผ่าน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169164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6916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K1 · K3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83080" y="1691640"/>
            <a:ext cx="3749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Sound Understanding · การลด Misconception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1691640"/>
            <a:ext cx="3566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1691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F3 Four-tier (Pre+Post) ข้อ 1–3 · FT-02 ภาพรวม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98280" y="1691640"/>
            <a:ext cx="259049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1691640"/>
            <a:ext cx="2407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% Sound ≥ 80%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Misconception ลด ≥ 20%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2377440"/>
            <a:ext cx="1280160" cy="64008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377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K2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783080" y="2377440"/>
            <a:ext cx="3749040" cy="64008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23774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การประยุกต์สูตร d = 1/p · m − M = 5 log(d/10)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2377440"/>
            <a:ext cx="3566160" cy="64008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2377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ใบกิจกรรม 3.1 Calc Parallax (Rubric 0–4)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98280" y="2377440"/>
            <a:ext cx="2590495" cy="64008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0" y="2377440"/>
            <a:ext cx="2407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คะแนนเฉลี่ย ≥ 70%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306324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063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P1 · P2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783080" y="3063240"/>
            <a:ext cx="3749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การสร้างแบบจำลอง P↔O↔E · การวัดมุม + คำนวณ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32120" y="3063240"/>
            <a:ext cx="3566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POE Rubric 0–3 · ใบ POE-03 · OB-01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098280" y="3063240"/>
            <a:ext cx="259049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35440" y="3063240"/>
            <a:ext cx="2407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POE เฉลี่ย ≥ 2.0 / 3.0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" y="3749040"/>
            <a:ext cx="1280160" cy="64008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749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783080" y="3749040"/>
            <a:ext cx="3749040" cy="64008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20240" y="3749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การตั้งคำถามเชิงลึก (Inquiry Attitude)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32120" y="3749040"/>
            <a:ext cx="3566160" cy="64008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7490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OB-01 · การถามใน CER Board / Gallery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098280" y="3749040"/>
            <a:ext cx="2590495" cy="64008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35440" y="3749040"/>
            <a:ext cx="2407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ตั้งคำถาม ≥ 1 ข้อ/คน · ≥ 60%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2920" y="4434840"/>
            <a:ext cx="1280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434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A2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783080" y="4434840"/>
            <a:ext cx="3749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920240" y="4434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การสะท้อนจุดที่ยังไม่เข้าใจ (Metacognition)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32120" y="4434840"/>
            <a:ext cx="35661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44348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MJ-01 (3-2-1)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098280" y="4434840"/>
            <a:ext cx="2590495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35440" y="4434840"/>
            <a:ext cx="24076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บันทึกชัดเจน ≥ 80%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02920" y="5349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1809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เกณฑ์ POE Rubric (0–3)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2920" y="5669280"/>
            <a:ext cx="2659304" cy="731520"/>
          </a:xfrm>
          <a:prstGeom prst="rect">
            <a:avLst/>
          </a:prstGeom>
          <a:solidFill>
            <a:srgbClr val="FFF5F5"/>
          </a:solidFill>
          <a:ln w="19050">
            <a:solidFill>
              <a:srgbClr val="FC81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5705856"/>
            <a:ext cx="265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30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594360" y="6080760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ไม่ตอบ / ไม่เกี่ยวข้อง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345104" y="5669280"/>
            <a:ext cx="2659304" cy="731520"/>
          </a:xfrm>
          <a:prstGeom prst="rect">
            <a:avLst/>
          </a:prstGeom>
          <a:solidFill>
            <a:srgbClr val="FFFAF0"/>
          </a:solidFill>
          <a:ln w="19050">
            <a:solidFill>
              <a:srgbClr val="F6AD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45104" y="5705856"/>
            <a:ext cx="265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3436544" y="6080760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562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อธิบายบางส่วน ขาดการเชื่อมหลักการ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187288" y="5669280"/>
            <a:ext cx="2659304" cy="731520"/>
          </a:xfrm>
          <a:prstGeom prst="rect">
            <a:avLst/>
          </a:prstGeom>
          <a:solidFill>
            <a:srgbClr val="F0FFF4"/>
          </a:solidFill>
          <a:ln w="19050">
            <a:solidFill>
              <a:srgbClr val="9AE6B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87288" y="5705856"/>
            <a:ext cx="265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674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6278728" y="6080760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674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ทำนายผิด แต่ Explain ถูกตามหลักการ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029471" y="5669280"/>
            <a:ext cx="2659304" cy="731520"/>
          </a:xfrm>
          <a:prstGeom prst="rect">
            <a:avLst/>
          </a:prstGeom>
          <a:solidFill>
            <a:srgbClr val="EBF8FF"/>
          </a:solidFill>
          <a:ln w="19050">
            <a:solidFill>
              <a:srgbClr val="90CDF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29471" y="5705856"/>
            <a:ext cx="2659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6CB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9120911" y="6080760"/>
            <a:ext cx="2476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6CB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ทำนายถูก + อธิบาย P↔O สมบูรณ์ ≥ 3 ประโยค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0972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777240"/>
            <a:ext cx="457200" cy="54864"/>
          </a:xfrm>
          <a:prstGeom prst="rect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08 · วPA INDICATORS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92608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การเชื่อมโยงกับ วPA ด้านที่ 1 · 8 ตัวชี้วัด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1185855" cy="384048"/>
          </a:xfrm>
          <a:prstGeom prst="rect">
            <a:avLst/>
          </a:prstGeom>
          <a:solidFill>
            <a:srgbClr val="FFF7E6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5156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4421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📘  อ้างอิงเกณฑ์ ก.ค.ศ. (ว 21/2564) — คะแนน × 2.5 · รวม 80 คะแนน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02920" cy="43891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600200"/>
            <a:ext cx="338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#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1600200"/>
            <a:ext cx="6446520" cy="43891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1600200"/>
            <a:ext cx="6281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ตัวชี้วัด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1600200"/>
            <a:ext cx="3108960" cy="43891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562088" y="1600200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หลักฐาน/กิจกรรมในคาบนี้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61320" y="1600200"/>
            <a:ext cx="1127455" cy="43891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671048" y="1600200"/>
            <a:ext cx="9628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ขั้นของแผน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05740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148840"/>
            <a:ext cx="320040" cy="3200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5840" y="2057400"/>
            <a:ext cx="6446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2057400"/>
            <a:ext cx="6281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ผู้เรียนสามารถเข้าถึงสิ่งที่เรียนและเข้าใจบทเรียน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52360" y="205740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2088" y="20574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Video Hook · Concept Cartoon · Sim พาแรลแลกซ์ · ภาษาเหมาะ ม.6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561320" y="2057400"/>
            <a:ext cx="112745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71048" y="2057400"/>
            <a:ext cx="962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E1, E2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2560320"/>
            <a:ext cx="502920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26517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5840" y="2560320"/>
            <a:ext cx="6446520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2560320"/>
            <a:ext cx="6281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★ เชื่อมโยงความรู้/ประสบการณ์เดิมกับการเรียนรู้ใหม่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52360" y="2560320"/>
            <a:ext cx="3108960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62088" y="256032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ACT (Quick Quiz แผน 1-2 + tan θ + c) · GOAL · F3 Pre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561320" y="2560320"/>
            <a:ext cx="1127455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71048" y="2560320"/>
            <a:ext cx="962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ACT, GOAL, F3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306324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3154680"/>
            <a:ext cx="320040" cy="3200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05840" y="3063240"/>
            <a:ext cx="6446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5568" y="3063240"/>
            <a:ext cx="6281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ผู้เรียนได้สร้างความรู้เอง / ประสบการณ์ใหม่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52360" y="306324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62088" y="306324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POE 3 ฐาน (Thumb · Lab · Sim) · CER Board · สร้างข้อสรุปเอง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561320" y="3063240"/>
            <a:ext cx="112745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71048" y="3063240"/>
            <a:ext cx="962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E1, E2, E3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3566160"/>
            <a:ext cx="502920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" y="3657600"/>
            <a:ext cx="320040" cy="3200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05840" y="3566160"/>
            <a:ext cx="6446520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15568" y="3566160"/>
            <a:ext cx="6281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ผู้เรียนได้รับการกระตุ้นและเกิดแรงจูงใจในการเรียนรู้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52360" y="3566160"/>
            <a:ext cx="3108960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62088" y="356616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Video Hook · Concept Cartoon ขัดแย้งมโนทัศน์ · Lab ลงมือทำ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561320" y="3566160"/>
            <a:ext cx="1127455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671048" y="3566160"/>
            <a:ext cx="962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E1, E2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" y="406908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" y="4160520"/>
            <a:ext cx="320040" cy="3200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005840" y="4069080"/>
            <a:ext cx="6446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15568" y="4069080"/>
            <a:ext cx="6281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ผู้เรียนได้รับการพัฒนาทักษะความเชี่ยวชาญจากการเรียนรู้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452360" y="406908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62088" y="406908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Calc Parallax (ใบ 3.1) · Spot the Error (3.2) · Sim Cepheid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0561320" y="4069080"/>
            <a:ext cx="112745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671048" y="4069080"/>
            <a:ext cx="962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E4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02920" y="4572000"/>
            <a:ext cx="502920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4360" y="4663440"/>
            <a:ext cx="320040" cy="3200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64" name="Text 62"/>
          <p:cNvSpPr/>
          <p:nvPr/>
        </p:nvSpPr>
        <p:spPr>
          <a:xfrm>
            <a:off x="594360" y="4663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6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1005840" y="4572000"/>
            <a:ext cx="6446520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15568" y="4572000"/>
            <a:ext cx="6281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ผู้เรียนได้รับข้อมูลสะท้อนกลับเพื่อปรับปรุงการเรียนรู้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7452360" y="4572000"/>
            <a:ext cx="3108960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62088" y="45720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เฉลย F3 ทันที · อธิบาย Tier 3 · Peer feedback CER Board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10561320" y="4572000"/>
            <a:ext cx="1127455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671048" y="4572000"/>
            <a:ext cx="962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F3, E3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02920" y="5074920"/>
            <a:ext cx="502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4360" y="5166360"/>
            <a:ext cx="320040" cy="3200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73" name="Text 71"/>
          <p:cNvSpPr/>
          <p:nvPr/>
        </p:nvSpPr>
        <p:spPr>
          <a:xfrm>
            <a:off x="594360" y="5166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7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1005840" y="5074920"/>
            <a:ext cx="6446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15568" y="5074920"/>
            <a:ext cx="6281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ผู้เรียนได้รับการพัฒนาการเรียนรู้ในบรรยากาศชั้นเรียนที่เหมาะสม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452360" y="507492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62088" y="507492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TL-01 ก่อน–หลัง · Think–Pair–Share · หมุนฐาน 3 ฐาน · OB-01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10561320" y="5074920"/>
            <a:ext cx="1127455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671048" y="5074920"/>
            <a:ext cx="962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TLC, E2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02920" y="5577840"/>
            <a:ext cx="502920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94360" y="5669280"/>
            <a:ext cx="320040" cy="320040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82" name="Text 80"/>
          <p:cNvSpPr/>
          <p:nvPr/>
        </p:nvSpPr>
        <p:spPr>
          <a:xfrm>
            <a:off x="594360" y="5669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8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005840" y="5577840"/>
            <a:ext cx="6446520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115568" y="5577840"/>
            <a:ext cx="6281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A3D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ผู้เรียนสามารถกำกับการเรียนรู้และมีการเรียนรู้แบบนำตนเอง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7452360" y="5577840"/>
            <a:ext cx="3108960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562088" y="557784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MJ-01 3-2-1 · ตั้งคำถามเชิงลึก · Self-regulation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0561320" y="5577840"/>
            <a:ext cx="1127455" cy="502920"/>
          </a:xfrm>
          <a:prstGeom prst="rect">
            <a:avLst/>
          </a:prstGeom>
          <a:solidFill>
            <a:srgbClr val="F6F9FF"/>
          </a:solidFill>
          <a:ln w="6350">
            <a:solidFill>
              <a:srgbClr val="DDE6F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671048" y="5577840"/>
            <a:ext cx="9628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MJ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A3D"/>
          </a:solidFill>
          <a:ln/>
        </p:spPr>
      </p:sp>
      <p:sp>
        <p:nvSpPr>
          <p:cNvPr id="90" name="Text 88"/>
          <p:cNvSpPr/>
          <p:nvPr/>
        </p:nvSpPr>
        <p:spPr>
          <a:xfrm>
            <a:off x="365760" y="65653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 3 (v2) · พาแรลแลกซ์และระยะของดาวฤกษ์ · ว 30105 ม.6 · นายโกเมน ปาปะโถ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1551615" y="6565392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731520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1280160"/>
            <a:ext cx="27432" cy="274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45720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0" y="1097280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73152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2926080"/>
            <a:ext cx="27432" cy="274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0" y="320040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0" y="5029200"/>
            <a:ext cx="45720" cy="457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2286000" y="5486400"/>
            <a:ext cx="27432" cy="274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0" y="594360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0" y="5486400"/>
            <a:ext cx="36576" cy="3657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5486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เชื่อมสู่แผนถัดไป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91440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Next Lesson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02920" y="2286000"/>
            <a:ext cx="3484778" cy="27432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25400">
            <a:solidFill>
              <a:srgbClr val="3B5B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60320"/>
            <a:ext cx="3484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3B5BD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15468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วิวัฒนาการดาว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879549" y="3840480"/>
            <a:ext cx="731520" cy="0"/>
          </a:xfrm>
          <a:prstGeom prst="line">
            <a:avLst/>
          </a:prstGeom>
          <a:noFill/>
          <a:ln w="19050">
            <a:solidFill>
              <a:srgbClr val="3B5B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23360"/>
            <a:ext cx="302757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 Magnitude สัมบูรณ์ + H-R diagram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3458" y="2286000"/>
            <a:ext cx="3484778" cy="27432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3458" y="2560320"/>
            <a:ext cx="3484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 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36338" y="315468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ระบบสุริยะ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730088" y="3840480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2058" y="4023360"/>
            <a:ext cx="302757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ใช้หน่วย AU + Kepler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03997" y="2286000"/>
            <a:ext cx="3484778" cy="27432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03997" y="2560320"/>
            <a:ext cx="34847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 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86877" y="315468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Hubble's Law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580626" y="3840480"/>
            <a:ext cx="7315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2597" y="4023360"/>
            <a:ext cx="302757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6F5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v = H₀d ต่อยอดบันไดวัดระยะ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31720" y="5669280"/>
            <a:ext cx="7528255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806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BBF24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Hook สำหรับแผน 4 จะมาจาก “1 คำถาม” ใน Metacognitive Journal ของนักเรียน — Feed-forward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" y="62636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ขอบคุณครับ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แผนการสอนที่ 3 (v2) — พาแรลแลกซ์และระยะของดาวฤกษ์</dc:title>
  <dc:subject>ว 30105 วิทยาศาสตร์พื้นฐาน 5 (โลกและอวกาศ) · ม.6</dc:subject>
  <dc:creator>นายโกเมน ปาปะโถ</dc:creator>
  <cp:lastModifiedBy>นายโกเมน ปาปะโถ</cp:lastModifiedBy>
  <cp:revision>1</cp:revision>
  <dcterms:created xsi:type="dcterms:W3CDTF">2026-06-08T06:16:42Z</dcterms:created>
  <dcterms:modified xsi:type="dcterms:W3CDTF">2026-06-08T06:16:42Z</dcterms:modified>
</cp:coreProperties>
</file>