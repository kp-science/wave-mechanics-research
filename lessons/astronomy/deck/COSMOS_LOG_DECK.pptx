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412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943600" y="-2286000"/>
            <a:ext cx="7315200" cy="7315200"/>
          </a:xfrm>
          <a:prstGeom prst="ellipse">
            <a:avLst/>
          </a:prstGeom>
          <a:solidFill>
            <a:srgbClr val="A062FF">
              <a:alpha val="2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-2743200" y="2286000"/>
            <a:ext cx="5486400" cy="5486400"/>
          </a:xfrm>
          <a:prstGeom prst="ellipse">
            <a:avLst/>
          </a:prstGeom>
          <a:solidFill>
            <a:srgbClr val="1A3A6A">
              <a:alpha val="3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1 · TEACHER DECK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COSMOS LOG</a:t>
            </a:r>
            <a:endParaRPr lang="en-US" sz="7000" dirty="0"/>
          </a:p>
        </p:txBody>
      </p:sp>
      <p:sp>
        <p:nvSpPr>
          <p:cNvPr id="22" name="Text 20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ปริศนาวัตถุต้นกำเนิด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ตอน · 17 หัวข้อ · 1 ภารกิจปกป้องเอกภพ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ครูโกเมน ปาปะโถ · ว 30105 ดาราศาสตร์ ม.6 · โรงเรียนสตรีวิทยา · 2569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เขียนโดย เจน · Researcher / วPA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ภารกิจการสอน · COSMOS LOG ม.6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73152" cy="16916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37160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 30105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วิทยาศาสตร์พื้นฐาน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โลกและอวกาศ · มาตรฐาน ว 7.1 ม.4-6/2 · 8 หน่วยการเรียนรู้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73152" cy="1691640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EP · 95 ฉาก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Story-driven curriculum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เรื่องเล่าเป็น Trigger ของบทเรียน · ทุกฉากเชื่อมเนื้อหา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73152" cy="169164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13716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System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misconception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ตัวบอส · นักเรียนหักล้างความเข้าใจผิดด้วยหลักฐาน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617720" y="3246120"/>
            <a:ext cx="73152" cy="169164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480060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5321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Research-Ready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321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วPA เชี่ยวชาญ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· Two-tier · IMI · Hake gain · Apps Script telemetry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ROADMAP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1 · 8 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ถ้าจักรวาลเป็นนิยาย · ทุกตอนคือบทเรียน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4069080" cy="713232"/>
          </a:xfrm>
          <a:prstGeom prst="rect">
            <a:avLst/>
          </a:prstGeom>
          <a:solidFill>
            <a:srgbClr val="161D33"/>
          </a:solidFill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48640" y="15636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3444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การปะทะ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1901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Bang · CMB · v=H₀D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50008"/>
            <a:ext cx="4069080" cy="713232"/>
          </a:xfrm>
          <a:prstGeom prst="rect">
            <a:avLst/>
          </a:prstGeom>
          <a:solidFill>
            <a:srgbClr val="161D33"/>
          </a:solidFill>
          <a:ln w="12700">
            <a:solidFill>
              <a:srgbClr val="FFA54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" y="24048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344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แผนที่ลับกาแล็กซี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Hubble Tuning Fork · Milky Way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91256"/>
            <a:ext cx="4069080" cy="713232"/>
          </a:xfrm>
          <a:prstGeom prst="rect">
            <a:avLst/>
          </a:prstGeom>
          <a:solidFill>
            <a:srgbClr val="161D33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23444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เสียงร้องจากอดีต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584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 · Cepheid · Magnitude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32504"/>
            <a:ext cx="4069080" cy="713232"/>
          </a:xfrm>
          <a:prstGeom prst="rect">
            <a:avLst/>
          </a:prstGeom>
          <a:solidFill>
            <a:srgbClr val="161D33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48640" y="40873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234440" y="4105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วันสุดท้ายของยักษ์แดง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OBAFGKM · HR · Mass Threshold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508760"/>
            <a:ext cx="4069080" cy="713232"/>
          </a:xfrm>
          <a:prstGeom prst="rect">
            <a:avLst/>
          </a:prstGeom>
          <a:solidFill>
            <a:srgbClr val="161D33"/>
          </a:solidFill>
          <a:ln w="12700">
            <a:solidFill>
              <a:srgbClr val="7AB8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4709160" y="15636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539496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หัวใจที่เต้นผิดจังหวะ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1901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6 Layers · POWER FORGE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2350008"/>
            <a:ext cx="4069080" cy="713232"/>
          </a:xfrm>
          <a:prstGeom prst="rect">
            <a:avLst/>
          </a:prstGeom>
          <a:solidFill>
            <a:srgbClr val="161D33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4709160" y="24048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39496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ขอบฟ้าของบ้าน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System · Pale Blue Dot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3191256"/>
            <a:ext cx="4069080" cy="713232"/>
          </a:xfrm>
          <a:prstGeom prst="rect">
            <a:avLst/>
          </a:prstGeom>
          <a:solidFill>
            <a:srgbClr val="161D33"/>
          </a:solidFill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4709160" y="3246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539496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สงครามในวงโคจร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584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LEO/MEO/GEO · EM Spectrum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4032504"/>
            <a:ext cx="4069080" cy="713232"/>
          </a:xfrm>
          <a:prstGeom prst="rect">
            <a:avLst/>
          </a:prstGeom>
          <a:solidFill>
            <a:srgbClr val="161D33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4709160" y="40873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5394960" y="4105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กำเนิดอีกครั้ง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94960" y="4425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· 17 Keys · Finale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0" y="-2743200"/>
            <a:ext cx="10972800" cy="10972800"/>
          </a:xfrm>
          <a:prstGeom prst="ellipse">
            <a:avLst/>
          </a:prstGeom>
          <a:solidFill>
            <a:srgbClr val="F5C451">
              <a:alpha val="8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kern="0" spc="4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ปี 2267 · บริดจ์ของ T.H.E.O.S.-IX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HISTORY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ยี่สิบปีแห่งความสูญหาย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· NEVER RETURNED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สหพันธ์ส่งยานออกนอกระบบสุริยะ 312 ลำ · กลับมา 248 · หาย 64 ลำในจุดเดียวกัน · ที่ไม่มีดาว ไม่มีก๊าซ ไม่มีอะไรเลย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CREW MANIFEST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ลูกเรือ T.H.E.O.S.-IX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73152" cy="16916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37160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อารยา เวชชาชีวะ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กัปตัน · 32 · ผู้บัญชาการ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พ่อหายไป 20 ปีก่อน · เรียนเข้ากองอวกาศเพื่อตามหา · ดวงตานิ่งใต้เปลือกเดือด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73152" cy="1691640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เคน 'สเปกตรา' ภัทรวงศ์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ร้อยโทวิศวกร · 28 · Stellar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เคยตาบอด 6 สัปดาห์จากแสงซูเปอร์โนวา · ยังกลัวแสงสว่างกะทันหัน — แต่ทำงานต่อ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73152" cy="169164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13716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หมอ มีรา ชาห์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แพทย์ชีวดาราศาสตร์ · 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น้องสาวหายในพายุสุริยะ 2261 · เปลี่ยนสายมาเพื่อยืนใกล้ที่น้องเคยอยู่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FA54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617720" y="3246120"/>
            <a:ext cx="73152" cy="1691640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480060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5321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โบลท์ เทอร์เรลล์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321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ช่าง · 26 · Mechanical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พ่อหายไปกับ Voyager 4 ตอนเขา 8 ขวบ · เรียนซ่อมเครื่องเพื่อวันที่จะซ่อมเรือพ่อ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LEMAÎTRE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1000" dirty="0"/>
          </a:p>
        </p:txBody>
      </p:sp>
      <p:sp>
        <p:nvSpPr>
          <p:cNvPr id="12" name="Text 10"/>
          <p:cNvSpPr/>
          <p:nvPr/>
        </p:nvSpPr>
        <p:spPr>
          <a:xfrm>
            <a:off x="1097280" y="13716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WARNING. ตรวจพบวัตถุปริศนา · ขนาด 12 เมตร · ทิศทางพุ่งตรงหัวเรือ · ความเร็วสัมพัทธ์ 0.02c · เวลาก่อนปะทะ — สี่สิบเจ็ดวินาที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3931920"/>
            <a:ext cx="2743200" cy="0"/>
          </a:xfrm>
          <a:prstGeom prst="line">
            <a:avLst/>
          </a:prstGeom>
          <a:noFill/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LEMAÎTRE · AI ประจำยาน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0.02c = 6,000 km/s · เร็วกว่ากระสุนปืน 9,000 เท่า · เวลาที่เหลือ: 47 วินาที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การปะทะ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Collision · เอกภพและบิกแบง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จุดเริ่มของเอกภพ · ทำไมเราต้องเชื่อบิกแบง?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· SCENE 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T-MINUS 00:03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การปะทะ · กระจกร้าวลายใยแมงมุม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2A0A0A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FF5050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0.02c · เร็วกว่ากระสุน 9,000 เท่า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เคนตะโกน: หลบไม่ได้ · มันเปลี่ยนทิศทางตามเรา · ยานสะท้อนกลับเหมือนใบไม้ที่โดนกำปั้นยักษ์ตี · กระจกหน้าต่างแตกเป็นลายใยแมงมุมที่ขยายช้า ๆ · alarm สามชั้นซ้อนกัน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151F3A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อารยา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ส่งโดรนเก็บตัวอย่าง · ทันที · ห้ามใครจับด้วยมือเปล่า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· SCENE 01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· SCENE 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T+06 นาที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ศิลาต้นกำเนิด · Origin Stone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1A1A2A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F5C451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 พันล้านปี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เก่าเท่ากับเอกภพ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เศษ 5 ชิ้นวางบนโต๊ะใต้ตู้กักเชื้อระดับ 4 · ผิวมันลื่นที่ดื่มแสงแล้วปล่อยกลับในความถี่ผิดเพี้ยน · เคนสแกน — สเปกตรัมเต็มทุกย่าน · จุดสูงสุดที่อุณหภูมิ 2.73 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LEMAÎTRE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อายุสัญญาณ: หนึ่ง สาม จุด แปด พันล้านปี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· SCENE 02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อุณหภูมิ CMB · Cosmic Microwave Background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2.73 K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(2.725 K · Penzias &amp; Wilson 1964)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หลักฐาน #1 จาก 3 ของบิกแบง · 'แสงแรก' ของเอกภพปล่อยตอนอะตอมเป็นกลาง · 380,000 ปีหลังบิกแบง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· SCENE 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ปรากฏ · เผ่าโวอิเดียน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1A0530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A062FF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HORROR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ใช้ความเข้าใจผิดเป็นอาวุธ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ไฟปกติของยานดับ 3 วินาที · ทุกจอเปลี่ยนเป็นสีม่วงเข้มพร้อมกัน · ใบหน้าของ VOID ก่อตัว — กระแสน้ำวนของดวงดาวที่ถูกบิดเบี้ยว · ในเงาเสื้อคลุมมีปากเล็ก ๆ จำนวนมากกระซิบประโยคที่ไม่เกี่ยวกัน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2A1845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บิกแบงคือ 'การระเบิด' · มีจุดศูนย์กลาง · มีขอบ · นั่นคือสิ่งที่เธอเรียนใช่ไหม? อย่ายอมรับเลข 13.8 พันล้านปีอย่างนั้น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· SCENE 03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· SCENE 04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ARRIVES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ดร.ฮับเบิล · ลูกโป่งและจุดบนผิว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1A2348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7AB8FF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🎈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BALLOON ANALOGY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ทุกจุดเคลื่อนห่างกัน · ไม่มีจุดศูนย์กลาง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ชายชราในเสื้อคลุมประดับลายดวงดาวลอยเข้ามาผ่านกระจก · ยื่นลูกโป่งและปากกามาร์กเกอร์ให้แต่ละคน · 'วาดจุด 5 จุด · เป่า 3 รอบ · วัดระยะทุกครั้ง · ห้ามใช้คำว่าขยายตัวจนกว่าผมอนุญาต'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2D2410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เคน (สี่นาทีต่อมา)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ทุกจุดห่างกันเพิ่ม · จุดที่ห่างมากเคลื่อนเร็วกว่า · ไม่มีจุดศูนย์กลางบนผิวลูกโป่งเลย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· SCENE 04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กฎของฮับเบิล · Hubble's Law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Hubble · 1929 · v คือความเร็วเคลื่อนหนี · D คือระยะ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solidFill>
            <a:srgbClr val="0E1A36"/>
          </a:solidFill>
          <a:ln w="12700">
            <a:solidFill>
              <a:srgbClr val="2D3F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H₀ × D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≈ 70 km/s/Mpc · ค่าคงที่ของฮับเบิล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786384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ยิ่งกาแล็กซีอยู่ไกล → ยิ่งเคลื่อนหนีเร็วกว่า · เป็นสัดส่วนตรง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ไม่ใช่กาแล็กซีเคลื่อนในอวกาศ — แต่เป็น 'อวกาศเอง' ที่ขยายตัว (เหมือนลูกโป่ง)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ไม่มีจุดศูนย์กลาง · ไม่มีขอบ · ทุกจุดมองเห็นทุกจุดอื่นเคลื่อนหนี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วัดได้จาก redshift (Δλ/λ) ของแสงจากกาแล็กซีไกล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หลักฐาน 3 ประการของบิกแบง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ทำไมเราถึงเชื่อว่าเอกภพมีจุดเริ่มต้น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CMB (Cosmic Microwave Background) · 2.725 K · แสงปล่อยตอนอายุ 380,000 ปี · Penzias &amp; Wilson 1964 (โนเบล 1978)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Expansion · กาแล็กซีไกลกว่าเคลื่อนเร็วกว่า · กฎฮับเบิล v=H₀D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Element Abundance · ไฮโดรเจน 75% + ฮีเลียม 25% · ตรงกับการคำนวณ Big Bang Nucleosynthesis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 VOID claim: 'ไม่มีจุดศูนย์กลาง · ไม่ใช่ระเบิด · เป็นการขยายตัวของอวกาศ'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TIMELINE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Timeline · 6 ยุคของเอกภพ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8046720" cy="0"/>
          </a:xfrm>
          <a:prstGeom prst="line">
            <a:avLst/>
          </a:prstGeom>
          <a:noFill/>
          <a:ln w="254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384048" y="2578608"/>
            <a:ext cx="329184" cy="329184"/>
          </a:xfrm>
          <a:prstGeom prst="ellipse">
            <a:avLst/>
          </a:prstGeom>
          <a:solidFill>
            <a:srgbClr val="FF6B9D"/>
          </a:solidFill>
          <a:ln w="254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9144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10⁻⁶ วินาที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ควาร์กลอยอิสระ · พลังงานสูงมาก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93392" y="2578608"/>
            <a:ext cx="329184" cy="329184"/>
          </a:xfrm>
          <a:prstGeom prst="ellipse">
            <a:avLst/>
          </a:prstGeom>
          <a:solidFill>
            <a:srgbClr val="FFA54F"/>
          </a:solidFill>
          <a:ln w="254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1380744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80744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วินาที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80744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ควาร์กรวมเป็นโปรตอน/นิวตรอน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02736" y="2578608"/>
            <a:ext cx="329184" cy="329184"/>
          </a:xfrm>
          <a:prstGeom prst="ellipse">
            <a:avLst/>
          </a:prstGeom>
          <a:solidFill>
            <a:srgbClr val="F5C451"/>
          </a:solidFill>
          <a:ln w="254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2990088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Nucleosynth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90088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นาที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90088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+ He นิวเคลียสก่อตัว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0" y="2578608"/>
            <a:ext cx="329184" cy="329184"/>
          </a:xfrm>
          <a:prstGeom prst="ellipse">
            <a:avLst/>
          </a:prstGeom>
          <a:solidFill>
            <a:srgbClr val="5FD9B5"/>
          </a:solidFill>
          <a:ln w="254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599432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99432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380,000 ปี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9432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อะตอมเป็นกลาง · CMB ปล่อย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21424" y="2578608"/>
            <a:ext cx="329184" cy="329184"/>
          </a:xfrm>
          <a:prstGeom prst="ellipse">
            <a:avLst/>
          </a:prstGeom>
          <a:solidFill>
            <a:srgbClr val="7AB8FF"/>
          </a:solidFill>
          <a:ln w="254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6208776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Ages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08776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ล้านปี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08776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ก่อนดาวฤกษ์ดวงแรก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30768" y="2578608"/>
            <a:ext cx="329184" cy="329184"/>
          </a:xfrm>
          <a:prstGeom prst="ellipse">
            <a:avLst/>
          </a:prstGeom>
          <a:solidFill>
            <a:srgbClr val="A062FF"/>
          </a:solidFill>
          <a:ln w="254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749808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980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 Gyr · ตอนนี้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Milky Way + Andromeda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BOSS · MISCONCEPTION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· บิกแบงคือการระเบิดในที่ว่าง?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A0530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· ความเข้าใจผิด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9659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อ้าง: บิกแบงเป็น 'การระเบิด' มีจุดศูนย์กลาง · มีขอบ · มีอวกาศว่างก่อนหน้า · เลข 13.8 พันล้านปีเป็นแค่นิทาน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· หลักฐาน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ลูกโป่งทดลอง: ทุกจุดห่างกันเพิ่ม · ไม่มีศูนย์กลางบนผิว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H₀D · กาแล็กซีไกลกว่าเคลื่อนเร็วกว่า — ตรงตามที่ Hubble วัด 1929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CMB 2.725 K วัดได้ทุกทิศเท่ากัน — ไม่มีทิศที่ 'ห่างศูนย์' กว่า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อวกาศเองที่ขยาย ไม่ใช่สสารระเบิดเข้าไปในที่ว่าง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CLIFFHANGER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พิกัดที่ไม่อยู่ในแผนที่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หลังหักล้าง VOID — ในจอเรดาร์มีพิกัดสีแดงเล็ก ๆ กระพริบ บนจุดที่ไม่มีอะไรเลย · LEMAÎTRE: 'กาแล็กซีนี้... ไม่มีอยู่ในแผนที่ของเรา'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ตั้งเส้นทาง · เราจะไปดู — กัปตันอารยา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แผนที่ลับกาแล็กซี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Lost Map · กาแล็กซีและกฎฮับเบิล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12700">
            <a:solidFill>
              <a:srgbClr val="FFA54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ระบบดาว · จำแนก · Doppler · พ่ออารยาส่ง SOS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· SCENE 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ชั่วโมง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หอสังเกตการณ์ · ทิวทัศน์กาแล็กซี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0A2A5A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7AB8FF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GALACTIC 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Group · 50+ กาแล็กซี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ห้องที่ผนังเป็นกระจกโค้ง 3 ด้าน · ภาพเปิดออกต่อหน้าทีมโดยไม่มีคำเตือน · Andromeda ใหญ่จนครอบครองด้านซ้าย · M87 จุดสว่างกลม ๆ ขวา · LMC, SMC ใต้กรอบ · จุดเล็ก ๆ 40-50 จุดกระจาย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151F3A"/>
          </a:solidFill>
          <a:ln w="12700">
            <a:solidFill>
              <a:srgbClr val="7AB8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7AB8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อารยา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เราต้องจำแนก 12 ตัวเลือกของพิกัด VOID · ถ้าเลือกผิด — เราอาจไม่กลับมา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· SCENE 01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Hubble Tuning Fork · จำแนกกาแล็กซีตามรูปร่าง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Hubble · 1936 · ส้อม ไม่ใช่บันได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Elliptical (E0-E7) · ทรงรี · ดาวแก่ · ก๊าซน้อย · เช่น M87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 (Sa, Sb, Sc) · ก้นหอย · มีแขนเกลียว · เช่น Andromeda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Barred Spiral (SBa, SBb, SBc) · มีแกนยาวกลาง · ★ Milky Way = SBc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· ไม่มีรูปแบบ · เช่น LMC, SMC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แต่ละสายไม่ได้แปลงเป็นอีกสาย — เป็นการจำแนก ไม่ใช่วิวัฒนาการ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Milky Way · บ้านของเรา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Barred Spiral · SBc · เส้นผ่าศูนย์กลาง 100,000 ปีแสง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ดาวประมาณ 100-400 พันล้านดวง · มีหลุมดำมวลยวดยิ่ง Sgr A* ที่ใจกลาง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ดวงอาทิตย์อยู่บนแขน Orion · ระยะ 26,000 ปีแสงจากศูนย์กลาง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ไม่ได้อยู่ใจกลาง · ไม่ได้อยู่ขอบ · อยู่ระดับกลาง — บ้านธรรมดา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Hubble 1924 พิสูจน์ Andromeda เป็นกาแล็กซีคนละแห่ง · เปลี่ยนความเข้าใจขนาดเอกภพ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BOSS · MISCONCEPTION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· ทางช้างเผือกแค่แถบเมฆบนฟ้า?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A0530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· ความเข้าใจผิด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9659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อ้าง: เธอเรียกมันว่ากาแล็กซี · แต่เธอไม่เคยเห็นมันจากภายนอก · เธอแค่เดา · ดาวที่เห็นด้วยตา = ดาวทั้งหมดในเอกภพ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· หลักฐาน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ดาวที่เราเห็นด้วยตา = ดาวในทางช้างเผือก 100+ พันล้านดวง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แถบเมฆบนฟ้า = มุมมองตามระนาบของกาแล็กซีเรา (มองจากใน)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Hubble 1924: Andromeda Cepheid → ไกลกว่าเส้นผ่าศูนย์กลาง Milky Way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พิสูจน์ว่ามีกาแล็กซีอื่น — เปลี่ยนความเข้าใจของมนุษย์ตลอดกาล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· SCENE 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MK.II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วาร์ปไดรฟ์ของไม่ใช่มนุษย์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1A0540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A062FF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🛸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 TECH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ข้ามกาแล็กซีใน &lt; 1 นาที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โบลท์โผล่ขึ้นมาบริดจ์ · หน้าเปื้อนเขม่า · ถือศิลาต้นกำเนิดที่แกะเปิดออก · ภายในมีขดลวด คริสตัล วงจรที่ไม่เหมือนสิ่งที่มนุษย์เคยทำ · บางส่วนเย็นจนทำให้พื้นโต๊ะเป็นน้ำแข็ง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2D2410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อารยา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...แล้วใครให้เราเจอ?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· SCENE 02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· SCENE 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EXIT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ดาวเดี่ยวที่กระพริบมอร์ส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2A1F08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F5C451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อา... ระยา... ฟัง...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ภาษาไทย · เสียงพ่อ · 87% confidence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ยานหลุดออกมาในความว่างเปล่าสนิท · ไม่ใช่กลุ่มกาแล็กซี · แค่ดาวเดี่ยวดวงเดียวสีเหลือง-ส้ม · กระพริบเป็นจังหวะสั้น-ยาว-สั้น · เสียงพ่อของอารยา · หายไป 20 ปี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151F3A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อารยา (กระซิบ)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...พ่อ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· SCENE 03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CLIFFHANGER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ก่อนเราจะเชื่อ · เราต้องวัด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เธอเป็นกัปตันที่ดี · และกัปตันที่ดี — ไม่เชื่ออะไรก่อนจะวัดมัน · ก่อนหลงเสียง — เราต้องรู้ว่าดาวอยู่ไกลเท่าไหร่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เคน · มีรา · ตรวจสอบระยะของดาวก่อน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เสียงร้องจากอดีต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from the Past · ดาวฤกษ์ · แสงและระยะ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ระยะทาง · ดาวที่ไกล 400 ปีแสง · gravity time dilation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Parallax · เครื่องมือวัดระยะดาว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หลักการ: ยกนิ้วชี้ไว้หน้าตา · หลับตาซ้าย/ขวา — นิ่วขยับ · ดาราศาสตร์ใช้โลก 2 ช่วงปี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solidFill>
            <a:srgbClr val="0E1A36"/>
          </a:solidFill>
          <a:ln w="12700">
            <a:solidFill>
              <a:srgbClr val="2D3F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(pc) = 1 / p (arcsec)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ระยะ (พาร์เซก) = 1 ÷ มุมพาแรลแลกซ์ (พิลิปดา) · 1 pc ≈ 3.26 ปีแสง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786384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ยานตั้งกล้องคู่ห่าง 1 AU (ระยะโลก-อาทิตย์ ≈ 150 ล้าน km) เป็น baseline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ดาวเป้าหมายจะดูเหมือนขยับเทียบกับดาวพื้นหลังที่ไกลกว่ามาก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เคนวัดได้: p = 0.0082 พิลิปดา → d = 122 pc ≈ 400 ปีแสง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ใช้ได้เฉพาะดาวใกล้ (&lt; 100 pc แม่นยำสูง · Gaia: &lt; 10 kpc)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· ความสว่างของดาว · ระบบกลับด้าน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ระบบที่ Hipparchus ตั้งเมื่อ 130 ปีก่อนคริสต์ศักราช · ดาวสว่าง = ค่าน้อย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solidFill>
            <a:srgbClr val="0E1A36"/>
          </a:solidFill>
          <a:ln w="12700">
            <a:solidFill>
              <a:srgbClr val="2D3F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− M = 5 log(d / 10)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ความสว่างที่เห็น · M = ความสว่างจริง · d = ระยะ (พาร์เซก)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786384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ดวงอาทิตย์ m = −26.7 · ดวงจันทร์เต็ม −12.7 · Sirius −1.46 · Polaris +2.0 · ดาวริบหรี่ที่ตาเห็น +6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ยิ่งติดลบ ยิ่งสว่าง · ยิ่งบวก ยิ่งมืด — กลับด้านจากสามัญสำนึก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Cepheid Variable: ยิ่งคาบยาว → M ยิ่งสว่าง (Henrietta Leavitt 1908)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Cepheid เป็น 'standard candle' — รู้ M → คำนวณ d → ทำให้ Hubble วัด Andromeda ได้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HUBBLE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1000" dirty="0"/>
          </a:p>
        </p:txBody>
      </p:sp>
      <p:sp>
        <p:nvSpPr>
          <p:cNvPr id="12" name="Text 10"/>
          <p:cNvSpPr/>
          <p:nvPr/>
        </p:nvSpPr>
        <p:spPr>
          <a:xfrm>
            <a:off x="1097280" y="13716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Henrietta Swan Leavitt · 1908 · ค้นพบความสัมพันธ์คาบ-ความสว่างของ Cepheid · ในยุคที่ผู้หญิงไม่ได้รับอนุญาตให้ใช้กล้องโทรทรรศน์ใหญ่ · เธอเปลี่ยนความเข้าใจขนาดของจักรวาล — โดยไม่เคยได้รางวัลโนเบล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3931920"/>
            <a:ext cx="2743200" cy="0"/>
          </a:xfrm>
          <a:prstGeom prst="line">
            <a:avLst/>
          </a:prstGeom>
          <a:noFill/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ดร.ฮับเบิล · เมนเทอร์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ผู้หญิงในประวัติศาสตร์ดาราศาสตร์ทำมากกว่าที่หนังสือเรียนบอก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BOSS · MISCONCEPTION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· เลขมาก = สว่างมาก?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A0530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· ความเข้าใจผิด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9659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อ้าง: ดาวเลขมาก ยิ่งสว่าง · เลข 6 ใหญ่กว่าเลข 1 · ตรรกะง่าย ๆ ที่เด็กก็เข้าใจ · งั้นดาวที่ส่งสัญญาณนี้สว่างที่สุด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· หลักฐาน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ระบบแมกนิจูดดาราศาสตร์กลับด้าน · Hipparchus 130 BCE · สว่าง = 1, ริบหรี่ = 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ดวงอาทิตย์ −26.7 · Sirius −1.46 · Polaris +2 — ยิ่งติดลบ ยิ่งสว่าง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Supernova Crab Nebula 1054 = mag −7 · เห็นกลางวันที่กรุงไคโร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ใช้เครื่องมือที่ถูกต้อง · ไม่หลงในเสียงที่อยากเชื่อ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 · GOODBYE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1000" dirty="0"/>
          </a:p>
        </p:txBody>
      </p:sp>
      <p:sp>
        <p:nvSpPr>
          <p:cNvPr id="12" name="Text 10"/>
          <p:cNvSpPr/>
          <p:nvPr/>
        </p:nvSpPr>
        <p:spPr>
          <a:xfrm>
            <a:off x="1097280" y="13716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ขอบคุณที่บอก พ่อ · ผมจะไม่หลงตัวเลขสว่าง · ผมจะใช้เครื่องมือที่ถูกต้อง · ผมจะไม่หลงในเสียงที่อยากเชื่อ · ผมรักพ่อ · ลาก่อน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3931920"/>
            <a:ext cx="2743200" cy="0"/>
          </a:xfrm>
          <a:prstGeom prst="line">
            <a:avLst/>
          </a:prstGeom>
          <a:noFill/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กัปตันอารยา · ลาพ่อ (รอบที่สอง)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VOID: 'ทำไมเธอถึงไม่ร้องไห้?' · อารยา: 'ผมร้องไห้แล้ว · เมื่อ 20 ปีก่อน'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PRE-SUPERNOVA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ดาวเริ่มสั่น · สีเปลี่ยนแดงเข้ม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6:00:00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SUPERNOVA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ก่อนระเบิด — ทีมต้องวัดมวลเพื่อรู้ว่าจะเป็น white dwarf, neutron star, หรือ black hole · เพื่อตัดสินใจระยะหนีที่ปลอดภัย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CLIFFHANGER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ผม Stellar Engineer · ดาวคือสิ่งที่ผมทำ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เคนหายใจเข้าลึก · เขาเป็นคนที่กลัวดาวมากที่สุดในเอกภพ · เพราะเมื่อ 5 ปีก่อน ดาวที่เขาเฝ้าทำให้เขาตาบอด 6 สัปดาห์ · วันนี้เขาต้องเผชิญหน้าอีกครั้ง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...แม้ว่าผมจะกลัวมันมากที่สุด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วันสุดท้ายของยักษ์แดง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of a Giant · ดาวฤกษ์และวิวัฒนาการ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วิวัฒนาการดาว · OBAFGKM · มวลตัดสินชะตา · พ่อโบลท์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FLASHBACK · 5Y AGO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เคนตาบอดจากแสงซูเปอร์โนวา · 5 ปีก่อน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0.003s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REACTION · TOO 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ดาวที่ควรอยู่อีก 100,000 ปี — ระเบิดในวันนั้น · แสงเดินทาง 51 ล้านปี · ระบบกรองตัดทอนไม่ทัน · 6 สัปดาห์ในความมืดก่อนสายตากลับมา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OBAFGKM · ลำดับสเปกตรัมดาว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Wien's Law: ดาวร้อน → แสงคลื่นสั้น (น้ำเงิน) · ดาวเย็น → แสงคลื่นยาว (แดง)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· น้ำเงิน · ≥30,000 K · ใหญ่ ร้อน อายุสั้น 10 ล้านปี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น้ำเงิน-ขาว · 10,000-30,000 K · เช่น Rigel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ขาว · 7,500-10,000 K · เช่น Sirius, Vega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เหลือง-ขาว · 6,000-7,500 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เหลือง · 5,200-6,000 K · ★ ดวงอาทิตย์ของเรา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ส้ม · 3,700-5,200 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แดง · ≤3,700 K · 75% ของดาวในเอกภพเป็น M-class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Diagram · แผนที่ชีวิตของดาว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Hertzsprung 1911 + Russell 1913 (อิสระจากกัน) · luminosity vs temperature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Sequence (90% ของชีวิต) · เผาไฮโดรเจนในแกน → ฮีเลียม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Giant/Supergiant · ไฮโดรเจนหมด · พองตัว · เผาธาตุหนักขึ้นเรื่อย 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เหล็กไม่เผา — ฟิวชันเหล็กใช้พลังงาน ไม่ปลดปล่อย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ดาวที่ทีมเจอ: M-class · 3,200 K · 18 M☉ · ใกล้ core collapse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Collapse: แกนยุบจาก 1,500 km → 25 km ใน 0.25 วินาที!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THRESHOLD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จุดจบของดาว · มวลตัดสินทุกอย่าง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7AB8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73152" cy="1691640"/>
          </a:xfrm>
          <a:prstGeom prst="rect">
            <a:avLst/>
          </a:prstGeom>
          <a:solidFill>
            <a:srgbClr val="7AB8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37160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 M☉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Dwarf + Planetary Nebula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เผาฮีเลียมจนหมดแล้วหด · เหลือเปลือกในชื่อเนบิวลาดาวเคราะห์ · เช่น อนาคตดวงอาทิตย์เรา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73152" cy="169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9-25 M☉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Star · Supernova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collapse · ระเบิด · เหลือแกน 25 km · 1 ช้อนชา = 6 พันล้านตัน · ★ ดาวเป้าหมาย 18 M☉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73152" cy="169164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13716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 M☉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Hole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มวลมากเกินจะหยุดยุบ · หลุดจากกรอบอวกาศ-เวลา · แสงหนีไม่ได้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617720" y="3246120"/>
            <a:ext cx="73152" cy="16916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480060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5321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Supernova Type II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321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Core-collapse mechanism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เหล็กแกนถึงขีดจำกัด Chandrasekhar · 1.4 M☉ · core ยุบ · เปลือกพัดออกด้วยพลังงาน 10⁴⁴ J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BOSS · MISCONCEPTION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· ดาวแดงร้อนกว่าดาวน้ำเงิน?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A0530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· ความเข้าใจผิด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9659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อ้าง: ดาวแดงร้อนกว่าน้ำเงิน · สามัญสำนึก · เลือดร้อน-แดง · น้ำแข็ง-ฟ้า · ดาวก็เหมือนกัน · ดาวแดงกำลังจะระเบิดเพราะมันร้อนเกิน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· หลักฐาน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โบลท์: ผมเชื่อมโลหะ 15 ปี · ถ่านแดง 600°C · ส้ม 1,000 · เหลือง 1,400 · ขาว 1,800 · น้ำเงิน 2,500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เปลวไฟเตาแก๊ส: ส่วนในน้ำเงิน 1,400°C · ขอบเหลือง 1,000°C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Wien's Law: λ_max = b/T · T สูง → λ สั้น (น้ำเงิน) · T ต่ำ → λ ยาว (แดง)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O-class 30,000 K · M-class 3,000 K — น้ำเงินร้อนกว่าแดงสิบเท่า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EP4 · SCENE 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T-MINUS 00:55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ซูเปอร์โนวา · ทีมหนีก่อน 55 นาที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2A1A0A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💫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SUPERNOVA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แสงขาวบริสุทธิ์เต็มหน้าต่างยาน 3 วินาที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ทีมหนีออกห้าชั่วโมงห้านาที · เร็วกว่าตั้งใจ 55 นาที · ขณะวาร์ปออก พวกเขาเห็นดาวระเบิด · LEMAÎTRE ตรวจ pattern radiation: มี 'การเร่งการตาย' · ดาวนี้ไม่ควรระเบิดอีก 100,000 ปี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LEMAÎTRE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ลายเซ็นยานโวอิเดียน · ในรัศมีของ pre-supernova instability · ก่อนเราจะมาถึง · พวกเขาเร่งการระเบิดของดาว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EP4 · SCENE 02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CLIFFHANGER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บ้านเรา · กำลังถูกเล่นงาน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พิกัดสุดท้ายของยานโวอิเดียน — ระบบสุริยะของเรา · โลก · บ้าน · ทุกคนที่เรารัก · พวกเขาไม่ได้แค่ทดสอบเรา · พวกเขากำลังเตรียมการ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ตั้งวาร์ปกลับ Sol · เร็ว — กัปตันอารยา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AB8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หัวใจที่เต้นผิดจังหวะ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Heart · ระบบสุริยะ · ดวงอาทิตย์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12700">
            <a:solidFill>
              <a:srgbClr val="7AB8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ภัยพิบัติ · POWER FORGE · พ่อฟื้น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FLASHBACK 2261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พายุสุริยะ X-3 · สถานี Helios-7 · 14 มีนาคม 2261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'พี่...'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น้องสาวมีรา (ปรียา ชาห์ · 24) เรียกชื่อพี่ครึ่งคำก่อนสัญญาณตัด · มีราเปลี่ยนสายงานเป็นแพทย์ชีวดาราศาสตร์เพื่อจะได้ยืนใกล้ที่น้องเคยอยู่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EP5 · SCENE 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T-MINUS 18 ชั่วโมง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X-class CME · ใหญ่กว่า Carrington 3 เท่า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5A2510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FFA54F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STORM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km/s · 200 ล้านชีวิตเสี่ยง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เปลวสุริยะ X-class พุ่งออกเป็นวงโค้งงู · ยาวกว่าโลก 1 ล้านเท่า · พวยพุ่งสีส้ม-แดงบิดตัวเป็นเกลียวแม่เหล็ก · ถ้าถึงโลก: ไฟฟ้าทั่วโลกล่ม · GPS ดับ · ระบบขนส่งหยุด · เครื่องผ่าตัดไม่ทำงาน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151F3A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อารยา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งั้นเราหยุดมัน · มีรา · คุณเป็นผู้นำคราวนี้ · ดวงอาทิตย์เป็นเรื่องของคุณ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EP5 · SCENE 01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ชั้นบรรยากาศดวงอาทิตย์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FORGE · ปลดล็อค 6 พลังจาก 6 ชั้น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Core · 15 ล้าน K · ฟิวชัน 4H → He + 0.7% mass = E=mc²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Radiative Zone · โฟตอนเดินทาง 100,000 ปี ออกจากชั้นนี้!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Convective Zone · พลาสมาขึ้น-ลงเหมือนน้ำเดือด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Photosphere · 5,778 K · ผิวที่เห็น · sunspots ที่นี่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Chromosphere · 6,000-20,000 K · solar flare · spicule · เห็นสีชมพู-แดงตอนสุริยุปราคา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Corona · &gt; 1,000,000 K · ปริศนาที่ยังตอบไม่สมบูรณ์ · solar wind 400 km/s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POWER FORGE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พลัง HELION · ปลดล็อคจาก 6 ชั้น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7AB8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73152" cy="1691640"/>
          </a:xfrm>
          <a:prstGeom prst="rect">
            <a:avLst/>
          </a:prstGeom>
          <a:solidFill>
            <a:srgbClr val="7AB8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37160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กันรังสี · อารยา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โล่พลังงานล้อมยาน · ป้องกัน CME · กันคลื่นกระแทกซูเปอร์โนวา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FA54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73152" cy="1691640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เตือน spicule · เคน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อ่านความถี่พายุ · คาดเดาก่อนเกิด · บอกตำแหน่งอันตราย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73152" cy="1691640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13716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ดันพลาสมา · โบลท์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ยิงพลาสมาดันกลับ · เบี่ยงเส้นทาง CME · ใช้ในสนามรบ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617720" y="3246120"/>
            <a:ext cx="73152" cy="169164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480060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5321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+ Time + Prismatic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321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พลังของมีรา + อารยา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มองทะลุ sunspot · ⏱ ชะลอเวลา · 🌈 แยกความถี่ EM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BOSS · MISCONCEPTION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· ดวงอาทิตย์ติดไฟเหมือนเทียน?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A0530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· ความเข้าใจผิด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9659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อ้าง: ดวงอาทิตย์ก็แค่ไฟติดเหมือนเทียน · มีออกซิเจนหรือเปล่ายังไม่รู้ · เผาเชื้อเพลิงจนหมดแล้วก็ดับ · ทำไมต้องตื่นเต้น?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· หลักฐาน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มีรา: ในอวกาศไม่มีออกซิเจน · ไม่ใช่การเผาไหม้ทางเคมี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ฟิวชันนิวเคลียร์: 4H → 1He + มวลหายไป 0.7% เป็นพลังงาน E=mc²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เคน: พลัง 4×10²⁶ วัตต์ · เทียน 80 W · ห่างกัน 10²⁴ เท่า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โบลท์: เทียนเผา 1 เดือนหมด · ดวงอาทิตย์เผามา 4.6 พันล้านปี · เหลือ 5 พันล้านปี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EP5 · SCENE 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· ขั้วโลกใต้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ลายมือของน้อง · ในแสงเหนือ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0E2A26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5FD9B5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MESSAGE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ลายมือ 'ปรียา' · ที่เคยเขียนบนหน้าต่างหิมะตก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ในออโรราเหนือสถานี McMurdo · มีราเห็นลายเส้นโค้งสีเขียวที่ตรงกับลายมือของน้องสาว · 'คุณเห็นจริงไหม · มีรา · หรือคุณอยากเห็น?' อารยาถามด้วยความรักที่ระมัดระวัง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มีรา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ผมไม่รู้ · แต่ — ผมยอมรับแล้ว · น้องของผมส่งสัญญาณ · เป็นเสียงสุดท้าย · ในแสงที่ทุกคนเห็นได้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EP5 · SCENE 03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CLIFFHANGER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โวอิเดียนมีฐาน · ในระบบสุริยะของเรา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หลังเบี่ยง CME — LEMAÎTRE: 'ดาวหางหลายดวงในระบบสุริยะ · วงโคจรเบี่ยงผิดปกติ · ตำแหน่งไม่ใช่ความบังเอิญ' · พวกเขาไม่ได้แค่อยู่นอกบ้าน · พวกเขาอยู่ในบ้าน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ลากเส้นทางย้อนกลับ · หาจุดร่วม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ขอบฟ้าของบ้าน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of Home · สมาชิกระบบสุริยะ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6 GENESIS SHARDS · Pale Blue Dot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ทัวร์ดาวเคราะห์ 8 ดวง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Rocky (4) + Outer Gas Giants (4) + Asteroid Belt + Kuiper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 · ใกล้ที่สุด · มี exosphere บาง (Na · K · He) · 600°C สูง-ต่ำ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Venus · runaway greenhouse · 460°C · CO₂ 96% · ฝนกรดซัลฟิวริก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· บ้าน · ฟ้าฟ้า · มหาสมุทร · biosphere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· ดาวตาย · เคยมีมหาสมุทร · พบน้ำแข็งใต้ผิว · methane spike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· ขาดมวล 80 เท่าจะเป็นดาวฤกษ์ · Great Red Spot 350+ ปี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 · วงแหวนน้ำแข็ง+ฝุ่น · กว้าง 280,000 km · หนาเพียง 10 เมตร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Uranus · เอียง 98° · กลิ้งบนข้าง · Neptune · พายุ 2,100 km/h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BOSS · MISCONCEPTION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· พลูโตถูกถอด = วิทยาศาสตร์เปลี่ยนตามอารมณ์?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A0530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· ความเข้าใจผิด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9659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อ้าง (ถือโปสเตอร์ 'Pluto Forever' 2006): นักวิทยาศาสตร์เรียนเยอะแค่ไหนก็ไม่ยอมรับว่ามันถูกถอด · ความรู้ของเธอเปลี่ยนตามอารมณ์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· หลักฐาน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IAU 2006 นิยามดาวเคราะห์ใหม่ 3 ข้อ · เกณฑ์ทางวิทยาศาสตร์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โคจรรอบดวงอาทิตย์ · 2. มวลพอที่แรงโน้มถ่วงทำให้กลม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เคลียร์วงโคจรของตัวเอง — พลูโตไม่ผ่านข้อนี้ (แชร์กับ Kuiper 200,000+ วัตถุ)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วิทยาศาสตร์เปลี่ยนตามหลักฐาน · ไม่ใช่ตามอารมณ์ · นั่นคือจุดแข็ง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HUBBLE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1000" dirty="0"/>
          </a:p>
        </p:txBody>
      </p:sp>
      <p:sp>
        <p:nvSpPr>
          <p:cNvPr id="12" name="Text 10"/>
          <p:cNvSpPr/>
          <p:nvPr/>
        </p:nvSpPr>
        <p:spPr>
          <a:xfrm>
            <a:off x="1097280" y="13716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Sagan เขียน: 'ทุกความรัก ทุกสงคราม ทุกประวัติศาสตร์ของมนุษย์ — เกิดขึ้นบนจุดสีฟ้าซีดนั้น' · บ้านของเรา · ใหญ่กว่าที่เราคิด · เล็กกว่าที่เอกภพรู้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3931920"/>
            <a:ext cx="2743200" cy="0"/>
          </a:xfrm>
          <a:prstGeom prst="line">
            <a:avLst/>
          </a:prstGeom>
          <a:noFill/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Pale Blue Dot · Voyager 1 · 1990 · ระยะ 6 พันล้าน km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Perspective · ลดความเย่อหยิ่งของมนุษยชาติ · เพิ่มความรับผิดชอบต่อบ้าน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EP6 · SCENE 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AU · KUIPER BELT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Haumea Void Base · เป้าหมายลบบิกแบง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1A0530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A062FF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🛸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ANTI-GENESIS DEVICE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ใช้วาร์ปย้อนเวลา · รบกวนสภาวะเริ่มต้นเอกภพ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Haumea ดาวเคราะห์แคระรูปไข่หมุน 4 ชม./รอบ · ในด้านมืดมีฐานโวอิเดียน · ภายในมีโฮโลแกรมแผนที่ขนาดใหญ่ที่อารยาอ่านแล้วถอยกลับ — ถ้าสำเร็จ · เอกภพไม่เคยมีอยู่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151F3A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อารยา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เป้าหมายของเขา · ลบบิกแบงต้นกำเนิด · ย้อนเวลาไปที่จุดเริ่ม · ใส่ anti-genesis device · ถ้าสำเร็จ — เอกภพไม่เคยมีอยู่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EP6 · SCENE 02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CLIFFHANGER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เริ่มแล้ว · แผนสุดท้าย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LEMAÎTRE: 'ดาวเทียมสื่อสารทั่วโลกขาดสัญญาณ · GPS · INTERNET · BANKING · OFFLINE · โลกถูกตัดขาดทั้งโลก' · ห้องเงียบสนิท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เราจะใช้แผนที่ของพวกเขาเอง · เพื่อตามไปหยุดเขา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สงครามในวงโคจร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War · เทคโนโลยีอวกาศ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PBL · ดาวเทียมชน · 7 ช่วงคลื่น · Orbital Triage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OFFLINE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วงโคจรเสี่ยง · เวลาเหลือ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· 90 MINUTES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เลือกได้แค่ 5 ดวง · ISS (มีคน) · GPS (คนล้าน) · Starlink (Kessler) · Hubble (มรดก) · JWST ที่ L2 (1.5 ล้าน km) ช่วยไม่ทัน — ปล่อยไป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ชั้นวงโคจร · LEO · MEO · GEO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Kepler's Third Law: T² = a³ · วงโคจรไกลกว่า → คาบยาวกว่า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solidFill>
            <a:srgbClr val="0E1A36"/>
          </a:solidFill>
          <a:ln w="12700">
            <a:solidFill>
              <a:srgbClr val="2D3F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√(GM/r)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v_orbit ที่ LEO ≈ 7.9 km/s · v_escape ≈ 11.2 km/s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786384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200-2,000 km · คาบ 90 นาที · ISS, Hubble, Starlink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 · 2,000-35,786 km · คาบ 12 ชั่วโมง · GPS, Galileo, BeiDou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· 35,786 km พอดี · คาบ 24 ชั่วโมง · นิ่งเทียบกับพื้น · โทรคมนาคม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Lagrange · 1.5 ล้าน km · JWST · stable เมื่อโลก-อาทิตย์-ยานเรียงกัน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BOSS · MISCONCEPTION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· ดาวเทียม GEO ลอยนิ่ง = ไม่เคลื่อน?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A0530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· ความเข้าใจผิด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9659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อ้าง: ดาวเทียม GEO ลอยนิ่งเหนือหัวเธอ · ไม่ขยับ · พิสูจน์สิว่ามันเคลื่อน · ตาเธอเห็นว่ามันนิ่ง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· หลักฐาน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โบลท์: มันเคลื่อนที่ที่ 3.07 km/s · พ่อสอนผมตอนผมเก้าขวบ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หมุนรอบโลกพร้อมโลก 24 ชม. พอดี → ดูนิ่งเมื่อเทียบกับพื้น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T² = a³ ที่ระยะ 35,786 km → T = 24 ชม. ตรงเป๊ะ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ถ้าลอยนิ่งจริง · แรงโน้มถ่วงโลกจะดึงตกใน 4.5 ชั่วโมง — มันต้อง 'ตกตามโค้งของโลก' ตลอดเวลา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Spectrum · 7 ย่านคลื่นแม่เหล็กไฟฟ้า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ทุกย่านเดินทางด้วยความเร็วแสง c · ต่างกันที่ความถี่และพลังงาน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solidFill>
            <a:srgbClr val="0E1A36"/>
          </a:solidFill>
          <a:ln w="12700">
            <a:solidFill>
              <a:srgbClr val="2D3F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f λ · E = h f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3×10⁸ m/s · h = 6.626×10⁻³⁴ J·s (Planck constant)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786384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(&gt; 1 m) · TV, วิทยุ — Microwave (1mm-1m) · CMB, GPS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(700nm-1mm) · JWST, ความร้อน — Visible (400-700nm) · Hubble, ตาเรา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Ultraviolet (10-400nm) · ดาวร้อน — X-ray (0.01-10nm) · Chandra, BH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(&lt; 0.01nm) · Compton, Gamma-Ray Burst — พลังงานสูงสุด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EP7 · SCENE 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DAD'S RECORDING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คริสตัลข้อมูล · เสียงพ่อโบลท์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2A1F08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FFA54F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GEOSAT-7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ดาวเทียมที่พ่อโบลท์ทำงาน · ปลดระวาง 2251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หลังช่วย ISS · โบลท์ส่งโดรนดึงดาวเทียมเก่า · ภายในมีคริสตัลข้อมูล · เปิด — เสียงพ่อตรง ๆ ชัดเจน ที่บันทึกก่อนหายตัวไม่กี่วัน · โบลท์น้ำตาไหลเงียบ · เขาไม่เช็ดออก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2A1F08"/>
          </a:solidFill>
          <a:ln w="12700">
            <a:solidFill>
              <a:srgbClr val="FFA54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พ่อโบลท์ (เสียงบันทึก)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พ่อภูมิใจในตัวลูกตั้งแต่วันที่ลูกถอดเครื่องบินบังคับวิทยุของลูกเองตอนหกขวบ · ทีมที่ดีมาทดแทนพ่อที่ดีได้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EP7 · SCENE 02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FATHER'S LEGACY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พ่อโบลท์ค้นพบใน Origin Stone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WARP · 13.8 GYR AGO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พ่อซ่อนวาร์ปไดรฟ์ย้อนเวลาไว้ในดาวเทียม 3 ดวง (GEOSAT-7, LEO-Hubble, MEO-GPS-prime) · ก่อนที่โวอิเดียนจะเอาไปใช้ · ตอนนี้โบลท์เปิดของขวัญสุดท้ายของพ่อ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CLIFFHANGER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temporal warp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พ่อให้กุญแจ · ทีมพร้อมแล้ว · ยานสั่นรุนแรง · แสงข้างนอกเปลี่ยนเป็นริ้วที่ผ่าทุกสเปกตรัม — แดงสว่างที่ไป-ทาง-ข้างหน้า · ม่วงเข้มที่กำลังย้อน-ทาง-ข้างหลัง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พบกันอีกครั้ง · ที่จุดเริ่มต้น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กำเนิดอีกครั้ง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Again · Season Finale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Synthesis · Mentor Reveal · 17 keys · Andromeda S2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08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EP8 · SCENE 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&lt;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ก่อนกาลเวลา · ความว่างเปล่า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0A0510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A062FF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PRE-CREATION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ไม่มีดาว · ไม่มีแสง · ไม่มีทิศทาง · ไม่มีเวลา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ยานหลุดออกในที่ที่ไม่มีอะไรเลย · บริดจ์เล็ก ๆ กับเก้าอี้สี่ตัว · กาแฟเย็นในแก้วของเคน · กรอบรูปในกระเป๋ามีรา · ประแจในมือโบลท์ · คือสิ่งเดียวที่มีอยู่ในความว่างเปล่าของก่อนเกิด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2A1845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เอกภพคือความผิดพลาด · มันสร้างความรู้ · ความรู้สร้างเธอ · ผมจะลบทุกอย่าง · เธอจะได้พักจากการคิด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EP8 · SCENE 01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FORGE · 17 Keys · 4 Phases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ทุกความรู้จาก EP1-7 · กลายเป็นอาวุธสุดท้าย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ENERGY (EP1-2) · Big Bang · CMB · v=H₀D · Galaxy Classification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DISTANCE (EP3-4) · Parallax · Magnitude · Cepheid · OBAFGKM · HR Diagram · Mass Threshold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HABITABILITY (EP5-6) · Sun 6 Layers · HELION 6 Powers · 8 Planets · Pale Blue Dot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COMMUNICATION (EP7) · EM Spectrum 7 bands · 3 Orbital Classes · Spacecraft Heritage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17 กุญแจ · 1 ภารกิจ · ปกป้องเอกภพที่จะมีอยู่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8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🗝 4 PHASE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FIRE! · ทีมยิงพร้อมกัน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7AB8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73152" cy="1691640"/>
          </a:xfrm>
          <a:prstGeom prst="rect">
            <a:avLst/>
          </a:prstGeom>
          <a:solidFill>
            <a:srgbClr val="7AB8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37160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· อารยา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EP1-2 · 4 keys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v=H₀D · อวกาศขยาย ไม่ใช่ระเบิดในที่ว่าง · มันเริ่มที่นี่ เดี๋ยวนี้ กำลังเริ่ม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73152" cy="1691640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· เคน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EP3-4 · 7 keys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d=1/p · m-M=5log(d/10) · เราวัดเอกภพได้ · ระยะ 400 ปีแสง — จริง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73152" cy="1691640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13716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HABITABILITY · มีรา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EP5-6 · 4 keys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ชั้นดวงอาทิตย์ · 8 ดาวเคราะห์ · เรารู้บ้านของเรา · เราจะปกป้องมัน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FA54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617720" y="3246120"/>
            <a:ext cx="73152" cy="1691640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480060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5321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โบลท์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321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EP7 · 3 keys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ย่าน EM · ยานอวกาศของมนุษย์ · พ่อสอนผม — ไม่ใช่เผาเงิน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1000" dirty="0"/>
          </a:p>
        </p:txBody>
      </p:sp>
      <p:sp>
        <p:nvSpPr>
          <p:cNvPr id="12" name="Text 10"/>
          <p:cNvSpPr/>
          <p:nvPr/>
        </p:nvSpPr>
        <p:spPr>
          <a:xfrm>
            <a:off x="1097280" y="13716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ความรู้... แข็งแกร่งกว่า... ความว่างเปล่า...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3931920"/>
            <a:ext cx="2743200" cy="0"/>
          </a:xfrm>
          <a:prstGeom prst="line">
            <a:avLst/>
          </a:prstGeom>
          <a:noFill/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VOID · เสียงสุดท้าย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ลำแสง 17 รวมเป็นลำสีขาวบริสุทธิ์ · ปะทะ anti-genesis device · เครื่องพังทันที · VOID สลายตัว · ปากเล็กในเงาหุบทีละปาก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8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EP8 · SCENE 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 → 13.8 Gyr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เอกภพเริ่มต้น · เอกภพที่เราเพิ่งจะปกป้อง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291840" cy="3200400"/>
          </a:xfrm>
          <a:prstGeom prst="rect">
            <a:avLst/>
          </a:prstGeom>
          <a:solidFill>
            <a:srgbClr val="5A4010"/>
          </a:solidFill>
          <a:ln w="127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1463040" cy="1463040"/>
          </a:xfrm>
          <a:prstGeom prst="ellipse">
            <a:avLst/>
          </a:prstGeom>
          <a:solidFill>
            <a:srgbClr val="F5C451">
              <a:alpha val="4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อวกาศขยายตัว · ดาวก่อตัว · กาแล็กซีก่อตัว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10⁻³⁵ s: พลังงานควอนตัมแยกเป็น 4 แรง · 10⁻⁶ s: ควาร์กรวมเป็นโปรตอน · 3 นาที: นิวเคลียส H + He · 380,000 ปี: CMB ปล่อย · 200 ล้านปี: ดาวฤกษ์ดวงแรก · 1 พันล้านปี: กาแล็กซี · เวลาเริ่มเดินตามที่มันควรเป็น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0400"/>
            <a:ext cx="4663440" cy="1463040"/>
          </a:xfrm>
          <a:prstGeom prst="rect">
            <a:avLst/>
          </a:prstGeom>
          <a:solidFill>
            <a:srgbClr val="151F3A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023360" y="3200400"/>
            <a:ext cx="54864" cy="14630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1605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อารยา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เคน · มีรา · โบลท์ · พวกคุณคือทีมที่ดีที่สุด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EP8 · SCENE 03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FF5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CLIFFHANGER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2 · Andromeda Awaits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ยานกลับมาปี 2267 · ดาวเทียมเริ่มทำงานอีก · ไฟเมืองทั่วโลกเริ่มสว่าง · แล้ว LEMAÎTRE ก็ส่งเสียงเตือน — สัญญาณใหม่ · จาก Andromeda · 2.5 ล้านปีแสง · ไม่ใช่ลายเซ็นที่เรารู้จัก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Season 2 · เริ่ม · เมื่อเธอพร้อม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8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0" y="-2743200"/>
            <a:ext cx="10972800" cy="10972800"/>
          </a:xfrm>
          <a:prstGeom prst="ellipse">
            <a:avLst/>
          </a:prstGeom>
          <a:solidFill>
            <a:srgbClr val="F5C451">
              <a:alpha val="8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kern="0" spc="4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นิยายเป็น Trigger · ความรู้เป็นอาวุธ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Story-to-Lesson Bridge · หลักการสอน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creates Need · Need demands Concept · Concept solves Story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STORY BEAT — เหตุการณ์ · 1-2 ประโยค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STUDENT'S NEED — คำถามที่นักเรียนเกิดเอง (ไม่ใช่ครูบอกให้รู้)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CONCEPT — เนื้อหา ม.6 ที่ต้องรู้ (ผูกกับ ว 7.1 ม.4-6/2)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ACTIVITY — กิจกรรมเชิงรุก: drag-classify, lab, MCQ, debate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RESOLUTION — เรื่องดำเนินต่อ · ผลของการเรียนเป็นเสริมพล็อต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NOTES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เครื่องมือที่ทีมใช้เป็นโมเดล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73152" cy="1691640"/>
          </a:xfrm>
          <a:prstGeom prst="rect">
            <a:avLst/>
          </a:prstGeom>
          <a:solidFill>
            <a:srgbClr val="F5C45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37160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Gap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เปิดด้วยปริศนา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open กระทบใจ → นักเรียนอยากรู้คำตอบ · ไม่ใช่ครูบอกให้สงสัย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A062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73152" cy="1691640"/>
          </a:xfrm>
          <a:prstGeom prst="rect">
            <a:avLst/>
          </a:prstGeom>
          <a:solidFill>
            <a:srgbClr val="A062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 Boss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rebut pattern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นักเรียนหักล้าง VOID ด้วยหลักฐาน → ความรู้ที่ผ่านการต่อสู้แข็งแกร่งกว่าที่รับมา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7AB8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73152" cy="1691640"/>
          </a:xfrm>
          <a:prstGeom prst="rect">
            <a:avLst/>
          </a:prstGeom>
          <a:solidFill>
            <a:srgbClr val="7AB8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13716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Reveal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ดร.ฮับเบิล + LEMAÎTRE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ครูในเรื่องอธิบายหลังนักเรียนเกิด need · authoritative แต่ไม่ปรามาส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3246120"/>
            <a:ext cx="4069080" cy="1691640"/>
          </a:xfrm>
          <a:prstGeom prst="rect">
            <a:avLst/>
          </a:prstGeom>
          <a:solidFill>
            <a:srgbClr val="161D33"/>
          </a:solidFill>
          <a:ln w="12700">
            <a:solidFill>
              <a:srgbClr val="FFA54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617720" y="3246120"/>
            <a:ext cx="73152" cy="1691640"/>
          </a:xfrm>
          <a:prstGeom prst="rect">
            <a:avLst/>
          </a:prstGeom>
          <a:solidFill>
            <a:srgbClr val="FFA54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480060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💔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5321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A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Stakes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321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พ่อ · น้อง · ครอบครัว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ทำให้เนื้อหามี anchor · นักเรียนจำเพราะรู้สึก ไม่ใช่เพราะถูกบังคับ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VPA RESEARCH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Instruments · เครื่องมือวิจัยที่ฝังในหน่วย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วPA เชี่ยวชาญ · ครูโกเมน ปาปะโถ · 2569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Test · 5 ข้อต่อ EP · parallel form 1:1 · Hake Gain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FT-01/02 Two-tier Diagnostic · 20 ข้อ · Caleon &amp; Subramaniam · 4 categories (Sound/Misconception/Guessing/No-K)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 (Intrinsic Motivation Inventory) · 21 ข้อ · post-only design · เกณฑ์ ≥ 3.51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· 20 ข้อ · 4 ด้าน (Content/Activity/Media/Assessment)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telemetry · 5 sheets · auto-sync · Data-Collection Gate (Phase 8)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64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64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VPA RESEARCH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3108960" y="2103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645920" y="448056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828800" y="29260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-2743200" y="-2743200"/>
            <a:ext cx="14630400" cy="10972800"/>
          </a:xfrm>
          <a:prstGeom prst="ellipse">
            <a:avLst/>
          </a:prstGeom>
          <a:solidFill>
            <a:srgbClr val="F5C451">
              <a:alpha val="6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เอกภพ — ไม่ใช่แค่สมการ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มันคือ บ้าน ของเรา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2743200" y="3108960"/>
            <a:ext cx="3657600" cy="0"/>
          </a:xfrm>
          <a:prstGeom prst="line">
            <a:avLst/>
          </a:prstGeom>
          <a:noFill/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และเรา — เป็น Cadet ที่ห้า · ของยาน T.H.E.O.S.-IX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COSMOS LOG · SEASON 1 · COMPLETE 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continued in Season 2 · Andromeda Awaits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3891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108960" y="46634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0" y="42976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27432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303520" y="18288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solidFill>
            <a:srgbClr val="5FD9B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CREDITS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ขอบคุณที่เป็น Cadet ที่ 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C451"/>
                </a:solidFill>
              </a:rPr>
              <a:t>ผู้เขียนนิยาย: </a:t>
            </a:r>
            <a:r>
              <a:rPr lang="en-US" sz="1400" dirty="0">
                <a:solidFill>
                  <a:srgbClr val="E7ECF5"/>
                </a:solidFill>
              </a:rPr>
              <a:t>เจน · Researcher / วPA · LP-02 COSMOS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C451"/>
                </a:solidFill>
              </a:rPr>
              <a:t>ผู้สอน: </a:t>
            </a:r>
            <a:r>
              <a:rPr lang="en-US" sz="1400" dirty="0">
                <a:solidFill>
                  <a:srgbClr val="E7ECF5"/>
                </a:solidFill>
              </a:rPr>
              <a:t>ครูโกเมน ปาปะโถ · ว 30105 ดาราศาสตร์ · โรงเรียนสตรีวิทยา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C451"/>
                </a:solidFill>
              </a:rPr>
              <a:t>ตามไบเบิล: </a:t>
            </a:r>
            <a:r>
              <a:rPr lang="en-US" sz="1300" i="1" dirty="0">
                <a:solidFill>
                  <a:srgbClr val="9AA6C2"/>
                </a:solidFill>
              </a:rPr>
              <a:t>cosmos-log-series-bible.html v1.0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C451"/>
                </a:solidFill>
              </a:rPr>
              <a:t>เครื่องมือ: </a:t>
            </a:r>
            <a:r>
              <a:rPr lang="en-US" sz="1300" dirty="0">
                <a:solidFill>
                  <a:srgbClr val="E7ECF5"/>
                </a:solidFill>
              </a:rPr>
              <a:t>Apps Script telemetry · Two-tier diagnostic · IMI · Hake Gain · Pre/Post parallel form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C451"/>
                </a:solidFill>
              </a:rPr>
              <a:t>ภารกิจ: </a:t>
            </a:r>
            <a:r>
              <a:rPr lang="en-US" sz="1400" i="1" dirty="0">
                <a:solidFill>
                  <a:srgbClr val="7AB8FF"/>
                </a:solidFill>
              </a:rPr>
              <a:t>นักเรียนเรียนรู้ไม่ใช่เพราะครูบอกให้เรียน · แต่เพราะ 'ทีมต้องรอด'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solidFill>
            <a:srgbClr val="0E2A26"/>
          </a:solidFill>
          <a:ln w="12700">
            <a:solidFill>
              <a:srgbClr val="5FD9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ไฟล์ที่เกี่ยวข้อง: COSMOS_LOG_NOVEL.html · NOVELLA.md · MOVIE_SCRIPT.md · STORY_TO_LESSON.md · 22 cinematic scene slots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6876</Words>
  <Application>Microsoft Macintosh PowerPoint</Application>
  <PresentationFormat>On-screen Show (16:9)</PresentationFormat>
  <Paragraphs>907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โรงเรียนสตรีวิทยา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COSMOS LOG · Season 1 · นิยายดาราศาสตร์ ม.6</dc:title>
  <dc:subject>PptxGenJS Presentation</dc:subject>
  <dc:creator>เจน · Researcher / วPA</dc:creator>
  <cp:lastModifiedBy>โกเมน ปาปะโถ</cp:lastModifiedBy>
  <cp:revision>1</cp:revision>
  <dcterms:created xsi:type="dcterms:W3CDTF">2026-05-10T19:54:18Z</dcterms:created>
  <dcterms:modified xsi:type="dcterms:W3CDTF">2026-05-10T19:56:27Z</dcterms:modified>
</cp:coreProperties>
</file>